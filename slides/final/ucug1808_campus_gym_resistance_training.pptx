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926db32486b4eb6" /><Relationship Type="http://schemas.openxmlformats.org/officeDocument/2006/relationships/extended-properties" Target="/docProps/app.xml" Id="Rc4fd718d1cb84656" /><Relationship Type="http://schemas.openxmlformats.org/officeDocument/2006/relationships/officeDocument" Target="/ppt/presentation.xml" Id="R718937330bc04ff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56c77ca7e174be7"/>
  </p:sldMasterIdLst>
  <p:notesMasterIdLst>
    <p:notesMasterId xmlns:r="http://schemas.openxmlformats.org/officeDocument/2006/relationships" r:id="R818de2acec0d4f12"/>
  </p:notesMasterIdLst>
  <p:sldIdLst>
    <p:sldId xmlns:r="http://schemas.openxmlformats.org/officeDocument/2006/relationships" id="256" r:id="Raa2775e6ef4b4f3c"/>
    <p:sldId xmlns:r="http://schemas.openxmlformats.org/officeDocument/2006/relationships" id="257" r:id="R4048d3024f084765"/>
    <p:sldId xmlns:r="http://schemas.openxmlformats.org/officeDocument/2006/relationships" id="258" r:id="R463038bae95f4d8a"/>
    <p:sldId xmlns:r="http://schemas.openxmlformats.org/officeDocument/2006/relationships" id="259" r:id="R18997319834b4d55"/>
    <p:sldId xmlns:r="http://schemas.openxmlformats.org/officeDocument/2006/relationships" id="260" r:id="R9f233441ed6b4f37"/>
    <p:sldId xmlns:r="http://schemas.openxmlformats.org/officeDocument/2006/relationships" id="261" r:id="R9defca50989d4003"/>
    <p:sldId xmlns:r="http://schemas.openxmlformats.org/officeDocument/2006/relationships" id="262" r:id="R5fe61fbeddae41fc"/>
    <p:sldId xmlns:r="http://schemas.openxmlformats.org/officeDocument/2006/relationships" id="263" r:id="R8ea444b873f34a3f"/>
    <p:sldId xmlns:r="http://schemas.openxmlformats.org/officeDocument/2006/relationships" id="264" r:id="Ra93ebd0d6a7749c3"/>
    <p:sldId xmlns:r="http://schemas.openxmlformats.org/officeDocument/2006/relationships" id="265" r:id="Rcc3b088f0c9641f7"/>
    <p:sldId xmlns:r="http://schemas.openxmlformats.org/officeDocument/2006/relationships" id="266" r:id="Re8dcb6c39c884aae"/>
    <p:sldId xmlns:r="http://schemas.openxmlformats.org/officeDocument/2006/relationships" id="267" r:id="Rdee8d67aca3d4bc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6c77ca7e174be7" /><Relationship Type="http://schemas.openxmlformats.org/officeDocument/2006/relationships/theme" Target="/ppt/theme/theme1.xml" Id="R1a61dc3b6f6b4515" /><Relationship Type="http://schemas.openxmlformats.org/officeDocument/2006/relationships/notesMaster" Target="/ppt/notesMasters/notesMaster1.xml" Id="R818de2acec0d4f12" /><Relationship Type="http://schemas.openxmlformats.org/officeDocument/2006/relationships/presProps" Target="/ppt/presProps.xml" Id="Rcdbca7f37d9d412f" /><Relationship Type="http://schemas.openxmlformats.org/officeDocument/2006/relationships/viewProps" Target="/ppt/viewProps.xml" Id="Rf475a76b177e428c" /><Relationship Type="http://schemas.openxmlformats.org/officeDocument/2006/relationships/tableStyles" Target="/ppt/tableStyles.xml" Id="Re1dbf8810b5b47c3" /><Relationship Type="http://schemas.openxmlformats.org/officeDocument/2006/relationships/slide" Target="/ppt/slides/slide1.xml" Id="Raa2775e6ef4b4f3c" /><Relationship Type="http://schemas.openxmlformats.org/officeDocument/2006/relationships/slide" Target="/ppt/slides/slide2.xml" Id="R4048d3024f084765" /><Relationship Type="http://schemas.openxmlformats.org/officeDocument/2006/relationships/slide" Target="/ppt/slides/slide3.xml" Id="R463038bae95f4d8a" /><Relationship Type="http://schemas.openxmlformats.org/officeDocument/2006/relationships/slide" Target="/ppt/slides/slide4.xml" Id="R18997319834b4d55" /><Relationship Type="http://schemas.openxmlformats.org/officeDocument/2006/relationships/slide" Target="/ppt/slides/slide5.xml" Id="R9f233441ed6b4f37" /><Relationship Type="http://schemas.openxmlformats.org/officeDocument/2006/relationships/slide" Target="/ppt/slides/slide6.xml" Id="R9defca50989d4003" /><Relationship Type="http://schemas.openxmlformats.org/officeDocument/2006/relationships/slide" Target="/ppt/slides/slide7.xml" Id="R5fe61fbeddae41fc" /><Relationship Type="http://schemas.openxmlformats.org/officeDocument/2006/relationships/slide" Target="/ppt/slides/slide8.xml" Id="R8ea444b873f34a3f" /><Relationship Type="http://schemas.openxmlformats.org/officeDocument/2006/relationships/slide" Target="/ppt/slides/slide9.xml" Id="Ra93ebd0d6a7749c3" /><Relationship Type="http://schemas.openxmlformats.org/officeDocument/2006/relationships/slide" Target="/ppt/slides/slide10.xml" Id="Rcc3b088f0c9641f7" /><Relationship Type="http://schemas.openxmlformats.org/officeDocument/2006/relationships/slide" Target="/ppt/slides/slide11.xml" Id="Re8dcb6c39c884aae" /><Relationship Type="http://schemas.openxmlformats.org/officeDocument/2006/relationships/slide" Target="/ppt/slides/slide12.xml" Id="Rdee8d67aca3d4bc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9c116b5381fe416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b01e93e93b44697" /><Relationship Type="http://schemas.openxmlformats.org/officeDocument/2006/relationships/notesMaster" Target="/ppt/notesMasters/notesMaster1.xml" Id="Re7f9b73162b2449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caca815861741d6" /><Relationship Type="http://schemas.openxmlformats.org/officeDocument/2006/relationships/notesMaster" Target="/ppt/notesMasters/notesMaster1.xml" Id="R24a743acd1ab42d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a3e37b7a9f84075" /><Relationship Type="http://schemas.openxmlformats.org/officeDocument/2006/relationships/notesMaster" Target="/ppt/notesMasters/notesMaster1.xml" Id="R853b7a815764449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603d76b5af34e1e" /><Relationship Type="http://schemas.openxmlformats.org/officeDocument/2006/relationships/notesMaster" Target="/ppt/notesMasters/notesMaster1.xml" Id="R63e6da7004e3412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3e18f0560b74d49" /><Relationship Type="http://schemas.openxmlformats.org/officeDocument/2006/relationships/notesMaster" Target="/ppt/notesMasters/notesMaster1.xml" Id="Rc431f42da61d449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0dd19d9876c4656" /><Relationship Type="http://schemas.openxmlformats.org/officeDocument/2006/relationships/notesMaster" Target="/ppt/notesMasters/notesMaster1.xml" Id="Rca4a410ed9504af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e3fc1b82a63439d" /><Relationship Type="http://schemas.openxmlformats.org/officeDocument/2006/relationships/notesMaster" Target="/ppt/notesMasters/notesMaster1.xml" Id="R126b83a9a8b540b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f675fcbed414399" /><Relationship Type="http://schemas.openxmlformats.org/officeDocument/2006/relationships/notesMaster" Target="/ppt/notesMasters/notesMaster1.xml" Id="R81d91b8105a5422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e76898bbfcf448f" /><Relationship Type="http://schemas.openxmlformats.org/officeDocument/2006/relationships/notesMaster" Target="/ppt/notesMasters/notesMaster1.xml" Id="R3a9399bb90a84cd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b3ad60606d54800" /><Relationship Type="http://schemas.openxmlformats.org/officeDocument/2006/relationships/notesMaster" Target="/ppt/notesMasters/notesMaster1.xml" Id="R889bf08412a54ba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400653c78be4ec0" /><Relationship Type="http://schemas.openxmlformats.org/officeDocument/2006/relationships/notesMaster" Target="/ppt/notesMasters/notesMaster1.xml" Id="R5da4a6c070dd496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54371b7ecbd4a4e" /><Relationship Type="http://schemas.openxmlformats.org/officeDocument/2006/relationships/notesMaster" Target="/ppt/notesMasters/notesMaster1.xml" Id="R92654b5990b34b5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532633d8b44c65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4f35085d39944b4c" /><Relationship Type="http://schemas.openxmlformats.org/officeDocument/2006/relationships/slideLayout" Target="/ppt/slideLayouts/slideLayout2.xml" Id="R287e8af3f86547c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87e8af3f86547c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f4e1e09b1ed430e" /><Relationship Type="http://schemas.openxmlformats.org/officeDocument/2006/relationships/notesSlide" Target="/ppt/notesSlides/notesSlide1.xml" Id="R10e227d3202646d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d66f937cc9941e8" /><Relationship Type="http://schemas.openxmlformats.org/officeDocument/2006/relationships/notesSlide" Target="/ppt/notesSlides/notesSlide2.xml" Id="R8d3e7efcb86444a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49849fbeeef4e46" /><Relationship Type="http://schemas.openxmlformats.org/officeDocument/2006/relationships/notesSlide" Target="/ppt/notesSlides/notesSlide3.xml" Id="R740ed0e4575042f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db0cb0c17504d27" /><Relationship Type="http://schemas.openxmlformats.org/officeDocument/2006/relationships/notesSlide" Target="/ppt/notesSlides/notesSlide4.xml" Id="R3e67c19f22bf486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59d8c6d62134bf5" /><Relationship Type="http://schemas.openxmlformats.org/officeDocument/2006/relationships/image" Target="/ppt/media/image.png" Id="Rfa1a7faa934c4bca" /><Relationship Type="http://schemas.openxmlformats.org/officeDocument/2006/relationships/notesSlide" Target="/ppt/notesSlides/notesSlide5.xml" Id="R9fa52e18216b43c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2142eb146c5464a" /><Relationship Type="http://schemas.openxmlformats.org/officeDocument/2006/relationships/image" Target="/ppt/media/image2.png" Id="R56d152443b724541" /><Relationship Type="http://schemas.openxmlformats.org/officeDocument/2006/relationships/notesSlide" Target="/ppt/notesSlides/notesSlide6.xml" Id="R77f9d75c6d07443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33ff4f5eee04d6f" /><Relationship Type="http://schemas.openxmlformats.org/officeDocument/2006/relationships/image" Target="/ppt/media/image3.png" Id="R0afd59ef918341dd" /><Relationship Type="http://schemas.openxmlformats.org/officeDocument/2006/relationships/notesSlide" Target="/ppt/notesSlides/notesSlide7.xml" Id="Rbc47a753ae65414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83c45c7544f41c3" /><Relationship Type="http://schemas.openxmlformats.org/officeDocument/2006/relationships/notesSlide" Target="/ppt/notesSlides/notesSlide8.xml" Id="R4047bb607524468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c9a6a8732c04868" /><Relationship Type="http://schemas.openxmlformats.org/officeDocument/2006/relationships/image" Target="/ppt/media/image4.png" Id="Rb3d7ed0d24b0488c" /><Relationship Type="http://schemas.openxmlformats.org/officeDocument/2006/relationships/notesSlide" Target="/ppt/notesSlides/notesSlide9.xml" Id="R6b7eb3e2c2b8485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d83fba166894c41" /><Relationship Type="http://schemas.openxmlformats.org/officeDocument/2006/relationships/image" Target="/ppt/media/image5.png" Id="R783f312e3efe4136" /><Relationship Type="http://schemas.openxmlformats.org/officeDocument/2006/relationships/notesSlide" Target="/ppt/notesSlides/notesSlide10.xml" Id="R4ffec8d37b3f400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5e31cb41d0440df" /><Relationship Type="http://schemas.openxmlformats.org/officeDocument/2006/relationships/notesSlide" Target="/ppt/notesSlides/notesSlide11.xml" Id="Rd4e1394dd0c24ab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270d7fa6c664df6" /><Relationship Type="http://schemas.openxmlformats.org/officeDocument/2006/relationships/notesSlide" Target="/ppt/notesSlides/notesSlide12.xml" Id="R18e3403798e9421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036E204-214B-4E85-8B19-23AF31FDE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DBABFF-8A22-4DF2-9B02-8E6D0C0C1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4476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FC6B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FC6B7"/>
                </a:solidFill>
                <a:latin typeface="Microsoft YaHei"/>
                <a:ea typeface="Microsoft YaHei"/>
                <a:cs typeface="Microsoft YaHei"/>
              </a:rPr>
              <a:t>UCUG 1808 | Sport in Society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512C32-CB4C-4DB5-AD73-BAD07936C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57150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1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Space, Body Image, and Resistance Training Avoidance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E39F28-5C9A-4F04-BB06-9692CBEE1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71800"/>
            <a:ext cx="7620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6D9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E6D9C6"/>
                </a:solidFill>
                <a:latin typeface="Microsoft YaHei"/>
                <a:ea typeface="Microsoft YaHei"/>
                <a:cs typeface="Microsoft YaHei"/>
              </a:rPr>
              <a:t>亚洲女大学生校园健身房空间、身体意象与阻力训练回避研究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43E620-C3FD-48A9-AD2D-04A2BBAD9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90950"/>
            <a:ext cx="6286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Core thesis: the main barrier is not lack of interest, but uneven access inside the gym.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CFBEFA-2409-4E3E-9D52-66CDB1F00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257300"/>
            <a:ext cx="2381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C08B32"/>
                </a:solidFill>
                <a:latin typeface="Georgia"/>
                <a:ea typeface="Georgia"/>
                <a:cs typeface="Georgia"/>
              </a:defRPr>
            </a:pPr>
            <a:r>
              <a:rPr sz="2700" b="1">
                <a:solidFill>
                  <a:srgbClr val="C08B32"/>
                </a:solidFill>
                <a:latin typeface="Georgia"/>
                <a:ea typeface="Georgia"/>
                <a:cs typeface="Georgia"/>
              </a:rPr>
              <a:t>32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C7F764-14B3-449F-9D34-DEB443BAD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09750"/>
            <a:ext cx="238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E6673"/>
                </a:solidFill>
                <a:latin typeface="Microsoft YaHei"/>
                <a:ea typeface="Microsoft YaHei"/>
                <a:cs typeface="Microsoft YaHei"/>
              </a:rPr>
              <a:t>female student survey respondents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5B4553-8E12-45AC-AC02-9F064930C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71750"/>
            <a:ext cx="2381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F7C77"/>
                </a:solidFill>
                <a:latin typeface="Georgia"/>
                <a:ea typeface="Georgia"/>
                <a:cs typeface="Georgia"/>
              </a:defRPr>
            </a:pPr>
            <a:r>
              <a:rPr sz="2700" b="1">
                <a:solidFill>
                  <a:srgbClr val="2F7C77"/>
                </a:solidFill>
                <a:latin typeface="Georgia"/>
                <a:ea typeface="Georgia"/>
                <a:cs typeface="Georgia"/>
              </a:rPr>
              <a:t>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F191AB-7C09-41C5-B689-E0171DF08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124200"/>
            <a:ext cx="238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E6673"/>
                </a:solidFill>
                <a:latin typeface="Microsoft YaHei"/>
                <a:ea typeface="Microsoft YaHei"/>
                <a:cs typeface="Microsoft YaHei"/>
              </a:rPr>
              <a:t>semi-structured interviews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AFFDEE-D49B-4D81-9AC3-5BA86F193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886200"/>
            <a:ext cx="2381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B44B3F"/>
                </a:solidFill>
                <a:latin typeface="Georgia"/>
                <a:ea typeface="Georgia"/>
                <a:cs typeface="Georgia"/>
              </a:defRPr>
            </a:pPr>
            <a:r>
              <a:rPr sz="2700" b="1">
                <a:solidFill>
                  <a:srgbClr val="B44B3F"/>
                </a:solidFill>
                <a:latin typeface="Georgia"/>
                <a:ea typeface="Georgia"/>
                <a:cs typeface="Georgia"/>
              </a:rPr>
              <a:t>15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267CD3-17D3-419B-8DB2-263769241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438650"/>
            <a:ext cx="238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E6673"/>
                </a:solidFill>
                <a:latin typeface="Microsoft YaHei"/>
                <a:ea typeface="Microsoft YaHei"/>
                <a:cs typeface="Microsoft YaHei"/>
              </a:rPr>
              <a:t>six-person presentation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FBDC2B-682C-4045-B3C0-3AEA81657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340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566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5E667B-A32D-432C-A4EF-CD996DDAB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847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FC6B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CFC6B7"/>
                </a:solidFill>
                <a:latin typeface="Microsoft YaHei"/>
                <a:ea typeface="Microsoft YaHei"/>
                <a:cs typeface="Microsoft YaHei"/>
              </a:rPr>
              <a:t>Final Group Research Project | 2026 Spring Semester</a:t>
            </a:r>
          </a:p>
        </p:txBody>
      </p:sp>
    </p:spTree>
    <p:extLst>
      <p:ext uri="{BB962C8B-B14F-4D97-AF65-F5344CB8AC3E}">
        <p14:creationId xmlns:p14="http://schemas.microsoft.com/office/powerpoint/2010/main" val="175563402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0D6082B-2F51-49DF-A2D0-412B92DF2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2-marker">
            <a:extLst xmlns:a="http://schemas.openxmlformats.org/drawingml/2006/main">
              <a:ext uri="{FF2B5EF4-FFF2-40B4-BE49-F238E27FC236}">
                <a16:creationId xmlns:a16="http://schemas.microsoft.com/office/drawing/2014/main" id="{5A5FE9FF-FB66-4974-A2AA-6CFE016B2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4B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2-label">
            <a:extLst xmlns:a="http://schemas.openxmlformats.org/drawingml/2006/main">
              <a:ext uri="{FF2B5EF4-FFF2-40B4-BE49-F238E27FC236}">
                <a16:creationId xmlns:a16="http://schemas.microsoft.com/office/drawing/2014/main" id="{A5152554-4D25-4015-A694-81FA2C10C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E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5E6673"/>
                </a:solidFill>
                <a:latin typeface="Microsoft YaHei"/>
                <a:ea typeface="Microsoft YaHei"/>
                <a:cs typeface="Microsoft YaHei"/>
              </a:rPr>
              <a:t>WHY IT MATTERS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D1145E-6011-4F87-8FAC-30FE0B197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8096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22831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222831"/>
                </a:solidFill>
                <a:latin typeface="Georgia"/>
                <a:ea typeface="Georgia"/>
                <a:cs typeface="Georgia"/>
              </a:rPr>
              <a:t>A gym can be open to everyone while some zones remain hard to enter.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626105-48BC-43FA-8F85-E475404D1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7429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E6673"/>
                </a:solidFill>
                <a:latin typeface="Microsoft YaHei"/>
                <a:ea typeface="Microsoft YaHei"/>
                <a:cs typeface="Microsoft YaHei"/>
              </a:rPr>
              <a:t>健身房名义上开放，不等于每个训练空间都被同等体验为可进入。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47D0AE-0F2D-4B8C-82CB-D114B5F3F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908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4B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CD4F03-1311-4EA5-A1B0-262681E85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33650"/>
            <a:ext cx="3810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228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22831"/>
                </a:solidFill>
                <a:latin typeface="Microsoft YaHei"/>
                <a:ea typeface="Microsoft YaHei"/>
                <a:cs typeface="Microsoft YaHei"/>
              </a:rPr>
              <a:t>Spatial threshold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B79460-36AF-4735-BD55-8D4B471CF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09875"/>
            <a:ext cx="43338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E6673"/>
                </a:solidFill>
                <a:latin typeface="Microsoft YaHei"/>
                <a:ea typeface="Microsoft YaHei"/>
                <a:cs typeface="Microsoft YaHei"/>
              </a:rPr>
              <a:t>Mirrors, open sightlines, crowding, and equipment layout make free weights feel high-risk for beginners.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F23788-25E6-4747-B9BD-FD70AAFD9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957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8B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B451C4-B39E-4856-BE3C-22C0A0838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38550"/>
            <a:ext cx="3810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228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22831"/>
                </a:solidFill>
                <a:latin typeface="Microsoft YaHei"/>
                <a:ea typeface="Microsoft YaHei"/>
                <a:cs typeface="Microsoft YaHei"/>
              </a:rPr>
              <a:t>Gendered belonging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15E442-C014-4C0C-8595-5963F83FA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14775"/>
            <a:ext cx="43338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E6673"/>
                </a:solidFill>
                <a:latin typeface="Microsoft YaHei"/>
                <a:ea typeface="Microsoft YaHei"/>
                <a:cs typeface="Microsoft YaHei"/>
              </a:rPr>
              <a:t>When most visible users are experienced men, female beginners may feel tolerated rather than expected.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C32D96-3D12-493D-8587-525B4D022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006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C7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1A595A-D529-4D33-8C75-72B79027B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743450"/>
            <a:ext cx="3810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228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22831"/>
                </a:solidFill>
                <a:latin typeface="Microsoft YaHei"/>
                <a:ea typeface="Microsoft YaHei"/>
                <a:cs typeface="Microsoft YaHei"/>
              </a:rPr>
              <a:t>Digital body ideals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773966-8ADA-4031-A2F9-A55FC1F6A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9675"/>
            <a:ext cx="43338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E6673"/>
                </a:solidFill>
                <a:latin typeface="Microsoft YaHei"/>
                <a:ea typeface="Microsoft YaHei"/>
                <a:cs typeface="Microsoft YaHei"/>
              </a:rPr>
              <a:t>Social media shapes exercise goals, but its effect is not always direct or one-dimensional.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56C96B-E0BA-48C1-9DDD-0E3FBD0F9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66950"/>
            <a:ext cx="35433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5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A26EDA-2F4E-4D45-B9E5-93423685A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724150"/>
            <a:ext cx="2857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22831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222831"/>
                </a:solidFill>
                <a:latin typeface="Georgia"/>
                <a:ea typeface="Georgia"/>
                <a:cs typeface="Georgia"/>
              </a:rPr>
              <a:t>Public equipment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4AA64D-C070-4550-AD9C-2A6218B71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371850"/>
            <a:ext cx="2190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DB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BDEA3C-50B8-4127-8AD0-F988F4539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638550"/>
            <a:ext cx="285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B44B3F"/>
                </a:solidFill>
                <a:latin typeface="Georgia"/>
                <a:ea typeface="Georgia"/>
                <a:cs typeface="Georgia"/>
              </a:defRPr>
            </a:pPr>
            <a:r>
              <a:rPr sz="2025" b="1">
                <a:solidFill>
                  <a:srgbClr val="B44B3F"/>
                </a:solidFill>
                <a:latin typeface="Georgia"/>
                <a:ea typeface="Georgia"/>
                <a:cs typeface="Georgia"/>
              </a:rPr>
              <a:t>is not the same as</a:t>
            </a:r>
          </a:p>
          <a:p xmlns:a="http://schemas.openxmlformats.org/drawingml/2006/main">
            <a:pPr algn="ctr">
              <a:defRPr sz="2025" b="1">
                <a:solidFill>
                  <a:srgbClr val="B44B3F"/>
                </a:solidFill>
                <a:latin typeface="Georgia"/>
                <a:ea typeface="Georgia"/>
                <a:cs typeface="Georgia"/>
              </a:defRPr>
            </a:pPr>
            <a:r>
              <a:rPr sz="2025" b="1">
                <a:solidFill>
                  <a:srgbClr val="B44B3F"/>
                </a:solidFill>
                <a:latin typeface="Georgia"/>
                <a:ea typeface="Georgia"/>
                <a:cs typeface="Georgia"/>
              </a:rPr>
              <a:t>felt access.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3BF9F9-D894-48FA-A001-4279B8B35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D8C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80415F-D44F-4FFE-B5E1-B7576B157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B7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B746C"/>
                </a:solidFill>
                <a:latin typeface="Microsoft YaHei"/>
                <a:ea typeface="Microsoft YaHei"/>
                <a:cs typeface="Microsoft YaHei"/>
              </a:rPr>
              <a:t>Framing from report introduction and literature review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8E082B-3E38-45C0-83DB-97F3934FC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B7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B746C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55597783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B9BD107-C196-4631-AF90-29A88481A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3-marker">
            <a:extLst xmlns:a="http://schemas.openxmlformats.org/drawingml/2006/main">
              <a:ext uri="{FF2B5EF4-FFF2-40B4-BE49-F238E27FC236}">
                <a16:creationId xmlns:a16="http://schemas.microsoft.com/office/drawing/2014/main" id="{FC155467-BB00-4F05-82A5-46550C284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4B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3-label">
            <a:extLst xmlns:a="http://schemas.openxmlformats.org/drawingml/2006/main">
              <a:ext uri="{FF2B5EF4-FFF2-40B4-BE49-F238E27FC236}">
                <a16:creationId xmlns:a16="http://schemas.microsoft.com/office/drawing/2014/main" id="{0B4BDAA7-5D40-4A3E-A458-17E36ADEF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E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5E6673"/>
                </a:solidFill>
                <a:latin typeface="Microsoft YaHei"/>
                <a:ea typeface="Microsoft YaHei"/>
                <a:cs typeface="Microsoft YaHei"/>
              </a:rPr>
              <a:t>RESEARCH QUESTIONS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D50886-6F7E-4A8F-8BF3-DEA4AF24F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8096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22831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222831"/>
                </a:solidFill>
                <a:latin typeface="Georgia"/>
                <a:ea typeface="Georgia"/>
                <a:cs typeface="Georgia"/>
              </a:rPr>
              <a:t>The project links space, media ideals, and negotiated participation.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1A34F5-43BF-48AB-8F76-A51A6EF60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7429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E6673"/>
                </a:solidFill>
                <a:latin typeface="Microsoft YaHei"/>
                <a:ea typeface="Microsoft YaHei"/>
                <a:cs typeface="Microsoft YaHei"/>
              </a:rPr>
              <a:t>三个研究问题分别对应空间、媒介和行动策略。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0E79B2-9D50-46CF-8691-9A6FF7928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8763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4B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155F22-6D84-4133-B9EE-BA7A28491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14600"/>
            <a:ext cx="876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875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RQ1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69FC9F-0390-4D3B-8C5B-CFBA54D72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447925"/>
            <a:ext cx="6381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2831"/>
                </a:solidFill>
                <a:latin typeface="Georgia"/>
                <a:ea typeface="Georgia"/>
                <a:cs typeface="Georgia"/>
              </a:defRPr>
            </a:pPr>
            <a:r>
              <a:rPr sz="1725" b="0">
                <a:solidFill>
                  <a:srgbClr val="222831"/>
                </a:solidFill>
                <a:latin typeface="Georgia"/>
                <a:ea typeface="Georgia"/>
                <a:cs typeface="Georgia"/>
              </a:rPr>
              <a:t>How do campus gym space and gym intimidation shape avoidance of resistance training?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656BB5-6DF0-4949-95FF-2A7FA881A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05200"/>
            <a:ext cx="8763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C7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3B9C32-EBD9-43A3-9414-1456ABF36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38550"/>
            <a:ext cx="876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875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RQ2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51844A-5475-44C7-92CB-F5F478E3B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571875"/>
            <a:ext cx="6381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2831"/>
                </a:solidFill>
                <a:latin typeface="Georgia"/>
                <a:ea typeface="Georgia"/>
                <a:cs typeface="Georgia"/>
              </a:defRPr>
            </a:pPr>
            <a:r>
              <a:rPr sz="1725" b="0">
                <a:solidFill>
                  <a:srgbClr val="222831"/>
                </a:solidFill>
                <a:latin typeface="Georgia"/>
                <a:ea typeface="Georgia"/>
                <a:cs typeface="Georgia"/>
              </a:rPr>
              <a:t>To what extent do internalized social media beauty norms shape exercise preferences?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1863F9-B26B-49E8-BC6C-FA5E7485C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29150"/>
            <a:ext cx="8763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8B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FA82CD-4192-45E4-B09F-218485727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876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875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RQ3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5CE0C3-657E-4F76-A1BB-2A95B5AAD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695825"/>
            <a:ext cx="6381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2831"/>
                </a:solidFill>
                <a:latin typeface="Georgia"/>
                <a:ea typeface="Georgia"/>
                <a:cs typeface="Georgia"/>
              </a:defRPr>
            </a:pPr>
            <a:r>
              <a:rPr sz="1725" b="0">
                <a:solidFill>
                  <a:srgbClr val="222831"/>
                </a:solidFill>
                <a:latin typeface="Georgia"/>
                <a:ea typeface="Georgia"/>
                <a:cs typeface="Georgia"/>
              </a:rPr>
              <a:t>How do female students negotiate between health goals and digital body ideals?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0410C5-0889-4AAB-B917-17BC733C9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266950"/>
            <a:ext cx="2095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E6673"/>
                </a:solidFill>
                <a:latin typeface="Georgia"/>
                <a:ea typeface="Georgia"/>
                <a:cs typeface="Georgia"/>
              </a:defRPr>
            </a:pPr>
            <a:r>
              <a:rPr sz="1575" b="0">
                <a:solidFill>
                  <a:srgbClr val="5E6673"/>
                </a:solidFill>
                <a:latin typeface="Georgia"/>
                <a:ea typeface="Georgia"/>
                <a:cs typeface="Georgia"/>
              </a:rPr>
              <a:t>We treat avoidance as a situated behavior, not a fixed personal trait.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BAF38F-8611-4BB7-9A05-77C4261DE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D8C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68BFFB-6DFA-43A5-B6A2-A693D0B90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B7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B746C"/>
                </a:solidFill>
                <a:latin typeface="Microsoft YaHei"/>
                <a:ea typeface="Microsoft YaHei"/>
                <a:cs typeface="Microsoft YaHei"/>
              </a:rPr>
              <a:t>Research questions from report introduction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4AAA36-81E9-4C93-AF53-7B9E10F9F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B7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B746C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480688088"/>
      </p:ext>
    </p:extLst>
  </p:cSld>
</p:sld>
</file>

<file path=ppt/slides/slide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1" name="">
            <a:extLst>
              <a:ext uri="{FF2B5EF4-FFF2-40B4-BE49-F238E27FC236}">
                <ns2:creationId id="{99E6119C-CD11-4260-ACB3-42F9EDA232D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2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4-marker">
            <a:extLst>
              <a:ext uri="{FF2B5EF4-FFF2-40B4-BE49-F238E27FC236}">
                <ns2:creationId id="{E8B739B2-7468-4217-9129-6C0D45ACE39C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95250" cy="95250"/>
          </a:xfrm>
          <a:prstGeom prst="rect">
            <a:avLst/>
          </a:prstGeom>
          <a:solidFill>
            <a:srgbClr val="B44B3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4-label">
            <a:extLst>
              <a:ext uri="{FF2B5EF4-FFF2-40B4-BE49-F238E27FC236}">
                <ns2:creationId id="{D57F3C91-6120-4C26-9381-2BA65CAFEA43}"/>
              </a:ext>
            </a:extLst>
          </p:cNvPr>
          <p:cNvSpPr>
            <a:spLocks noGrp="1"/>
          </p:cNvSpPr>
          <p:nvPr/>
        </p:nvSpPr>
        <p:spPr>
          <a:xfrm>
            <a:off x="800100" y="371475"/>
            <a:ext cx="3429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5E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5E6673"/>
                </a:solidFill>
                <a:latin typeface="Microsoft YaHei"/>
                <a:ea typeface="Microsoft YaHei"/>
                <a:cs typeface="Microsoft YaHei"/>
              </a:rPr>
              <a:t>METHOD</a:t>
            </a:r>
          </a:p>
        </p:txBody>
      </p:sp>
      <p:sp>
        <p:nvSpPr>
          <p:cNvPr id="4" name="">
            <a:extLst>
              <a:ext uri="{FF2B5EF4-FFF2-40B4-BE49-F238E27FC236}">
                <ns2:creationId id="{7D2D1795-0EA5-4401-A45C-E39F0EFCC5E4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809625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222831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222831"/>
                </a:solidFill>
                <a:latin typeface="Georgia"/>
                <a:ea typeface="Georgia"/>
                <a:cs typeface="Georgia"/>
              </a:rPr>
              <a:t>We use participant-level survey evidence plus interviews, with exploratory limits.</a:t>
            </a:r>
          </a:p>
        </p:txBody>
      </p:sp>
      <p:sp>
        <p:nvSpPr>
          <p:cNvPr id="5" name="">
            <a:extLst>
              <a:ext uri="{FF2B5EF4-FFF2-40B4-BE49-F238E27FC236}">
                <ns2:creationId id="{E80E65CD-2D57-4F43-A04A-98D39F6B12A8}"/>
              </a:ext>
            </a:extLst>
          </p:cNvPr>
          <p:cNvSpPr>
            <a:spLocks noGrp="1"/>
          </p:cNvSpPr>
          <p:nvPr/>
        </p:nvSpPr>
        <p:spPr>
          <a:xfrm>
            <a:off x="609600" y="1676400"/>
            <a:ext cx="7429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E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E6673"/>
                </a:solidFill>
                <a:latin typeface="Microsoft YaHei"/>
                <a:ea typeface="Microsoft YaHei"/>
                <a:cs typeface="Microsoft YaHei"/>
              </a:rPr>
              <a:t>这次新增逐名作答矩阵，可做构念得分、信度和探索性相关。</a:t>
            </a:r>
          </a:p>
        </p:txBody>
      </p:sp>
      <p:sp>
        <p:nvSpPr>
          <p:cNvPr id="6" name="">
            <a:extLst>
              <a:ext uri="{FF2B5EF4-FFF2-40B4-BE49-F238E27FC236}">
                <ns2:creationId id="{BDE83722-4D1E-43A8-AF2A-A9F265697D6A}"/>
              </a:ext>
            </a:extLst>
          </p:cNvPr>
          <p:cNvSpPr>
            <a:spLocks noGrp="1"/>
          </p:cNvSpPr>
          <p:nvPr/>
        </p:nvSpPr>
        <p:spPr>
          <a:xfrm>
            <a:off x="876300" y="2381250"/>
            <a:ext cx="22860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B44B3F"/>
                </a:solidFill>
                <a:latin typeface="Georgia"/>
                <a:ea typeface="Georgia"/>
                <a:cs typeface="Georgia"/>
              </a:defRPr>
            </a:pPr>
            <a:r>
              <a:rPr sz="2700" b="1">
                <a:solidFill>
                  <a:srgbClr val="B44B3F"/>
                </a:solidFill>
                <a:latin typeface="Georgia"/>
                <a:ea typeface="Georgia"/>
                <a:cs typeface="Georgia"/>
              </a:rPr>
              <a:t>N = 32</a:t>
            </a:r>
          </a:p>
        </p:txBody>
      </p:sp>
      <p:sp>
        <p:nvSpPr>
          <p:cNvPr id="7" name="">
            <a:extLst>
              <a:ext uri="{FF2B5EF4-FFF2-40B4-BE49-F238E27FC236}">
                <ns2:creationId id="{707FEEB4-76D5-4ECC-ABE9-25FF08637ABD}"/>
              </a:ext>
            </a:extLst>
          </p:cNvPr>
          <p:cNvSpPr>
            <a:spLocks noGrp="1"/>
          </p:cNvSpPr>
          <p:nvPr/>
        </p:nvSpPr>
        <p:spPr>
          <a:xfrm>
            <a:off x="876300" y="2933700"/>
            <a:ext cx="2286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E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E6673"/>
                </a:solidFill>
                <a:latin typeface="Microsoft YaHei"/>
                <a:ea typeface="Microsoft YaHei"/>
                <a:cs typeface="Microsoft YaHei"/>
              </a:rPr>
              <a:t>female college students in the core survey sample</a:t>
            </a:r>
          </a:p>
        </p:txBody>
      </p:sp>
      <p:sp>
        <p:nvSpPr>
          <p:cNvPr id="8" name="">
            <a:extLst>
              <a:ext uri="{FF2B5EF4-FFF2-40B4-BE49-F238E27FC236}">
                <ns2:creationId id="{F0AE0610-7411-490D-93CF-64B3FFA636A8}"/>
              </a:ext>
            </a:extLst>
          </p:cNvPr>
          <p:cNvSpPr>
            <a:spLocks noGrp="1"/>
          </p:cNvSpPr>
          <p:nvPr/>
        </p:nvSpPr>
        <p:spPr>
          <a:xfrm>
            <a:off x="876300" y="3733800"/>
            <a:ext cx="22860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2F7C77"/>
                </a:solidFill>
                <a:latin typeface="Georgia"/>
                <a:ea typeface="Georgia"/>
                <a:cs typeface="Georgia"/>
              </a:defRPr>
            </a:pPr>
            <a:r>
              <a:rPr sz="2700" b="1">
                <a:solidFill>
                  <a:srgbClr val="2F7C77"/>
                </a:solidFill>
                <a:latin typeface="Georgia"/>
                <a:ea typeface="Georgia"/>
                <a:cs typeface="Georgia"/>
              </a:rPr>
              <a:t>N = 3</a:t>
            </a:r>
          </a:p>
        </p:txBody>
      </p:sp>
      <p:sp>
        <p:nvSpPr>
          <p:cNvPr id="9" name="">
            <a:extLst>
              <a:ext uri="{FF2B5EF4-FFF2-40B4-BE49-F238E27FC236}">
                <ns2:creationId id="{C0F20EEA-1D39-4C47-8247-8CBC8A61B7BB}"/>
              </a:ext>
            </a:extLst>
          </p:cNvPr>
          <p:cNvSpPr>
            <a:spLocks noGrp="1"/>
          </p:cNvSpPr>
          <p:nvPr/>
        </p:nvSpPr>
        <p:spPr>
          <a:xfrm>
            <a:off x="876300" y="4286250"/>
            <a:ext cx="2286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E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E6673"/>
                </a:solidFill>
                <a:latin typeface="Microsoft YaHei"/>
                <a:ea typeface="Microsoft YaHei"/>
                <a:cs typeface="Microsoft YaHei"/>
              </a:rPr>
              <a:t>one-on-one semi-structured interviews</a:t>
            </a:r>
          </a:p>
        </p:txBody>
      </p:sp>
      <p:sp>
        <p:nvSpPr>
          <p:cNvPr id="10" name="">
            <a:extLst>
              <a:ext uri="{FF2B5EF4-FFF2-40B4-BE49-F238E27FC236}">
                <ns2:creationId id="{1501171E-3380-4DA1-83CF-991A5655563A}"/>
              </a:ext>
            </a:extLst>
          </p:cNvPr>
          <p:cNvSpPr>
            <a:spLocks noGrp="1"/>
          </p:cNvSpPr>
          <p:nvPr/>
        </p:nvSpPr>
        <p:spPr>
          <a:xfrm>
            <a:off x="4286250" y="2247900"/>
            <a:ext cx="5715000" cy="2781300"/>
          </a:xfrm>
          <a:prstGeom prst="rect">
            <a:avLst/>
          </a:prstGeom>
          <a:solidFill>
            <a:srgbClr val="FFFDF8"/>
          </a:solidFill>
          <a:ln w="9525">
            <a:solidFill>
              <a:srgbClr val="D9CDBB"/>
            </a:solidFill>
            <a:prstDash val="solid"/>
          </a:ln>
        </p:spPr>
      </p:sp>
      <p:sp>
        <p:nvSpPr>
          <p:cNvPr id="11" name="">
            <a:extLst>
              <a:ext uri="{FF2B5EF4-FFF2-40B4-BE49-F238E27FC236}">
                <ns2:creationId id="{31B81515-3F01-4138-B957-5FC7FA448455}"/>
              </a:ext>
            </a:extLst>
          </p:cNvPr>
          <p:cNvSpPr>
            <a:spLocks noGrp="1"/>
          </p:cNvSpPr>
          <p:nvPr/>
        </p:nvSpPr>
        <p:spPr>
          <a:xfrm>
            <a:off x="4610100" y="2533650"/>
            <a:ext cx="4953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222831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222831"/>
                </a:solidFill>
                <a:latin typeface="Georgia"/>
                <a:ea typeface="Georgia"/>
                <a:cs typeface="Georgia"/>
              </a:rPr>
              <a:t>What the updated data supports</a:t>
            </a:r>
          </a:p>
        </p:txBody>
      </p:sp>
      <p:sp>
        <p:nvSpPr>
          <p:cNvPr id="12" name="">
            <a:extLst>
              <a:ext uri="{FF2B5EF4-FFF2-40B4-BE49-F238E27FC236}">
                <ns2:creationId id="{7AFB6746-47F6-479E-BD12-EA93E063AD11}"/>
              </a:ext>
            </a:extLst>
          </p:cNvPr>
          <p:cNvSpPr>
            <a:spLocks noGrp="1"/>
          </p:cNvSpPr>
          <p:nvPr/>
        </p:nvSpPr>
        <p:spPr>
          <a:xfrm>
            <a:off x="4629150" y="3219450"/>
            <a:ext cx="2762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2228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22831"/>
                </a:solidFill>
                <a:latin typeface="Microsoft YaHei"/>
                <a:ea typeface="Microsoft YaHei"/>
                <a:cs typeface="Microsoft YaHei"/>
              </a:rPr>
              <a:t>Frequencies and item means</a:t>
            </a:r>
          </a:p>
        </p:txBody>
      </p:sp>
      <p:sp>
        <p:nvSpPr>
          <p:cNvPr id="13" name="">
            <a:extLst>
              <a:ext uri="{FF2B5EF4-FFF2-40B4-BE49-F238E27FC236}">
                <ns2:creationId id="{92B99F04-C2D7-4ECC-8AF9-B2356CEAE1FD}"/>
              </a:ext>
            </a:extLst>
          </p:cNvPr>
          <p:cNvSpPr>
            <a:spLocks noGrp="1"/>
          </p:cNvSpPr>
          <p:nvPr/>
        </p:nvSpPr>
        <p:spPr>
          <a:xfrm>
            <a:off x="7524750" y="3257550"/>
            <a:ext cx="2667000" cy="171450"/>
          </a:xfrm>
          <a:prstGeom prst="rect">
            <a:avLst/>
          </a:prstGeom>
          <a:solidFill>
            <a:srgbClr val="E7DED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>
              <a:ext uri="{FF2B5EF4-FFF2-40B4-BE49-F238E27FC236}">
                <ns2:creationId id="{ACDB9828-F875-49F3-9AB7-3C4CE316F291}"/>
              </a:ext>
            </a:extLst>
          </p:cNvPr>
          <p:cNvSpPr>
            <a:spLocks noGrp="1"/>
          </p:cNvSpPr>
          <p:nvPr/>
        </p:nvSpPr>
        <p:spPr>
          <a:xfrm>
            <a:off x="7524750" y="3257550"/>
            <a:ext cx="2667000" cy="171450"/>
          </a:xfrm>
          <a:prstGeom prst="rect">
            <a:avLst/>
          </a:prstGeom>
          <a:solidFill>
            <a:srgbClr val="6F8E5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>
              <a:ext uri="{FF2B5EF4-FFF2-40B4-BE49-F238E27FC236}">
                <ns2:creationId id="{5EBBE835-7F2F-4F5C-B3E5-FF58996434E3}"/>
              </a:ext>
            </a:extLst>
          </p:cNvPr>
          <p:cNvSpPr>
            <a:spLocks noGrp="1"/>
          </p:cNvSpPr>
          <p:nvPr/>
        </p:nvSpPr>
        <p:spPr>
          <a:xfrm>
            <a:off x="10287000" y="3219450"/>
            <a:ext cx="666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6F8E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F8E5F"/>
                </a:solidFill>
                <a:latin typeface="Microsoft YaHei"/>
                <a:ea typeface="Microsoft YaHei"/>
                <a:cs typeface="Microsoft YaHei"/>
              </a:rPr>
              <a:t>100%</a:t>
            </a:r>
          </a:p>
        </p:txBody>
      </p:sp>
      <p:sp>
        <p:nvSpPr>
          <p:cNvPr id="16" name="">
            <a:extLst>
              <a:ext uri="{FF2B5EF4-FFF2-40B4-BE49-F238E27FC236}">
                <ns2:creationId id="{602C3AF0-10D2-48DA-AF7A-DDF92B8AD6CF}"/>
              </a:ext>
            </a:extLst>
          </p:cNvPr>
          <p:cNvSpPr>
            <a:spLocks noGrp="1"/>
          </p:cNvSpPr>
          <p:nvPr/>
        </p:nvSpPr>
        <p:spPr>
          <a:xfrm>
            <a:off x="4629150" y="3657600"/>
            <a:ext cx="2762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2228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22831"/>
                </a:solidFill>
                <a:latin typeface="Microsoft YaHei"/>
                <a:ea typeface="Microsoft YaHei"/>
                <a:cs typeface="Microsoft YaHei"/>
              </a:rPr>
              <a:t>Construct scores + Cronbach's alpha</a:t>
            </a:r>
          </a:p>
        </p:txBody>
      </p:sp>
      <p:sp>
        <p:nvSpPr>
          <p:cNvPr id="17" name="">
            <a:extLst>
              <a:ext uri="{FF2B5EF4-FFF2-40B4-BE49-F238E27FC236}">
                <ns2:creationId id="{01913AC8-871B-4296-AA73-A6E7A11F68C8}"/>
              </a:ext>
            </a:extLst>
          </p:cNvPr>
          <p:cNvSpPr>
            <a:spLocks noGrp="1"/>
          </p:cNvSpPr>
          <p:nvPr/>
        </p:nvSpPr>
        <p:spPr>
          <a:xfrm>
            <a:off x="7524750" y="3695700"/>
            <a:ext cx="2667000" cy="171450"/>
          </a:xfrm>
          <a:prstGeom prst="rect">
            <a:avLst/>
          </a:prstGeom>
          <a:solidFill>
            <a:srgbClr val="E7DED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>
              <a:ext uri="{FF2B5EF4-FFF2-40B4-BE49-F238E27FC236}">
                <ns2:creationId id="{0DB6126E-1259-4716-BF78-53B481E67176}"/>
              </a:ext>
            </a:extLst>
          </p:cNvPr>
          <p:cNvSpPr>
            <a:spLocks noGrp="1"/>
          </p:cNvSpPr>
          <p:nvPr/>
        </p:nvSpPr>
        <p:spPr>
          <a:xfrm>
            <a:off x="7524750" y="3695700"/>
            <a:ext cx="2667000" cy="171450"/>
          </a:xfrm>
          <a:prstGeom prst="rect">
            <a:avLst/>
          </a:prstGeom>
          <a:solidFill>
            <a:srgbClr val="C08B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>
              <a:ext uri="{FF2B5EF4-FFF2-40B4-BE49-F238E27FC236}">
                <ns2:creationId id="{87894372-656F-42F4-AD75-8F7840FA2590}"/>
              </a:ext>
            </a:extLst>
          </p:cNvPr>
          <p:cNvSpPr>
            <a:spLocks noGrp="1"/>
          </p:cNvSpPr>
          <p:nvPr/>
        </p:nvSpPr>
        <p:spPr>
          <a:xfrm>
            <a:off x="10287000" y="3657600"/>
            <a:ext cx="666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C08B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08B32"/>
                </a:solidFill>
                <a:latin typeface="Microsoft YaHei"/>
                <a:ea typeface="Microsoft YaHei"/>
                <a:cs typeface="Microsoft YaHei"/>
              </a:rPr>
              <a:t>100%</a:t>
            </a:r>
          </a:p>
        </p:txBody>
      </p:sp>
      <p:sp>
        <p:nvSpPr>
          <p:cNvPr id="20" name="">
            <a:extLst>
              <a:ext uri="{FF2B5EF4-FFF2-40B4-BE49-F238E27FC236}">
                <ns2:creationId id="{919F209F-C3E7-4856-8A11-E76FF639D196}"/>
              </a:ext>
            </a:extLst>
          </p:cNvPr>
          <p:cNvSpPr>
            <a:spLocks noGrp="1"/>
          </p:cNvSpPr>
          <p:nvPr/>
        </p:nvSpPr>
        <p:spPr>
          <a:xfrm>
            <a:off x="4629150" y="4095750"/>
            <a:ext cx="2762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2228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22831"/>
                </a:solidFill>
                <a:latin typeface="Microsoft YaHei"/>
                <a:ea typeface="Microsoft YaHei"/>
                <a:cs typeface="Microsoft YaHei"/>
              </a:rPr>
              <a:t>Spearman correlations + group comparisons</a:t>
            </a:r>
          </a:p>
        </p:txBody>
      </p:sp>
      <p:sp>
        <p:nvSpPr>
          <p:cNvPr id="21" name="">
            <a:extLst>
              <a:ext uri="{FF2B5EF4-FFF2-40B4-BE49-F238E27FC236}">
                <ns2:creationId id="{1C526E95-8736-4C20-8E46-095BD4737301}"/>
              </a:ext>
            </a:extLst>
          </p:cNvPr>
          <p:cNvSpPr>
            <a:spLocks noGrp="1"/>
          </p:cNvSpPr>
          <p:nvPr/>
        </p:nvSpPr>
        <p:spPr>
          <a:xfrm>
            <a:off x="7524750" y="4133850"/>
            <a:ext cx="2667000" cy="171450"/>
          </a:xfrm>
          <a:prstGeom prst="rect">
            <a:avLst/>
          </a:prstGeom>
          <a:solidFill>
            <a:srgbClr val="E7DED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>
              <a:ext uri="{FF2B5EF4-FFF2-40B4-BE49-F238E27FC236}">
                <ns2:creationId id="{5C8F82CB-65D9-4AEC-B0B5-3FD8F908B631}"/>
              </a:ext>
            </a:extLst>
          </p:cNvPr>
          <p:cNvSpPr>
            <a:spLocks noGrp="1"/>
          </p:cNvSpPr>
          <p:nvPr/>
        </p:nvSpPr>
        <p:spPr>
          <a:xfrm>
            <a:off x="7524750" y="4133850"/>
            <a:ext cx="2667000" cy="171450"/>
          </a:xfrm>
          <a:prstGeom prst="rect">
            <a:avLst/>
          </a:prstGeom>
          <a:solidFill>
            <a:srgbClr val="2F7C7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>
              <a:ext uri="{FF2B5EF4-FFF2-40B4-BE49-F238E27FC236}">
                <ns2:creationId id="{5B537855-E919-4668-A21F-431581A737FB}"/>
              </a:ext>
            </a:extLst>
          </p:cNvPr>
          <p:cNvSpPr>
            <a:spLocks noGrp="1"/>
          </p:cNvSpPr>
          <p:nvPr/>
        </p:nvSpPr>
        <p:spPr>
          <a:xfrm>
            <a:off x="10287000" y="4095750"/>
            <a:ext cx="666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2F7C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F7C77"/>
                </a:solidFill>
                <a:latin typeface="Microsoft YaHei"/>
                <a:ea typeface="Microsoft YaHei"/>
                <a:cs typeface="Microsoft YaHei"/>
              </a:rPr>
              <a:t>100%</a:t>
            </a:r>
          </a:p>
        </p:txBody>
      </p:sp>
      <p:sp>
        <p:nvSpPr>
          <p:cNvPr id="24" name="">
            <a:extLst>
              <a:ext uri="{FF2B5EF4-FFF2-40B4-BE49-F238E27FC236}">
                <ns2:creationId id="{54254055-64F9-4A0F-990E-732535090076}"/>
              </a:ext>
            </a:extLst>
          </p:cNvPr>
          <p:cNvSpPr>
            <a:spLocks noGrp="1"/>
          </p:cNvSpPr>
          <p:nvPr/>
        </p:nvSpPr>
        <p:spPr>
          <a:xfrm>
            <a:off x="4610100" y="4648200"/>
            <a:ext cx="4667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B44B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44B3F"/>
                </a:solidFill>
                <a:latin typeface="Microsoft YaHei"/>
                <a:ea typeface="Microsoft YaHei"/>
                <a:cs typeface="Microsoft YaHei"/>
              </a:rPr>
              <a:t>No regression, mediation, prediction, or causal claims.</a:t>
            </a:r>
          </a:p>
        </p:txBody>
      </p:sp>
      <p:sp>
        <p:nvSpPr>
          <p:cNvPr id="25" name="">
            <a:extLst>
              <a:ext uri="{FF2B5EF4-FFF2-40B4-BE49-F238E27FC236}">
                <ns2:creationId id="{A1BFBFF2-E6C1-4C59-92C2-DF283EC4EB5F}"/>
              </a:ext>
            </a:extLst>
          </p:cNvPr>
          <p:cNvSpPr>
            <a:spLocks noGrp="1"/>
          </p:cNvSpPr>
          <p:nvPr/>
        </p:nvSpPr>
        <p:spPr>
          <a:xfrm>
            <a:off x="609600" y="6334125"/>
            <a:ext cx="9810750" cy="9525"/>
          </a:xfrm>
          <a:prstGeom prst="rect">
            <a:avLst/>
          </a:prstGeom>
          <a:solidFill>
            <a:srgbClr val="E2D8C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>
              <a:ext uri="{FF2B5EF4-FFF2-40B4-BE49-F238E27FC236}">
                <ns2:creationId id="{2AD1F66F-D8D5-44BE-83DE-6F92525CF11B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723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7B7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B746C"/>
                </a:solidFill>
                <a:latin typeface="Microsoft YaHei"/>
                <a:ea typeface="Microsoft YaHei"/>
                <a:cs typeface="Microsoft YaHei"/>
              </a:rPr>
              <a:t>Methodology: participant-level survey matrix + semi-structured interviews</a:t>
            </a:r>
          </a:p>
        </p:txBody>
      </p:sp>
      <p:sp>
        <p:nvSpPr>
          <p:cNvPr id="27" name="">
            <a:extLst>
              <a:ext uri="{FF2B5EF4-FFF2-40B4-BE49-F238E27FC236}">
                <ns2:creationId id="{1D9548A2-59EE-4347-824F-4ACE390ECCA2}"/>
              </a:ext>
            </a:extLst>
          </p:cNvPr>
          <p:cNvSpPr>
            <a:spLocks noGrp="1"/>
          </p:cNvSpPr>
          <p:nvPr/>
        </p:nvSpPr>
        <p:spPr>
          <a:xfrm>
            <a:off x="10953750" y="6419850"/>
            <a:ext cx="628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7B7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B746C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ns3:creationId val="115491263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02A82B0-EB0F-4404-AC19-402C5CD14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5-marker">
            <a:extLst xmlns:a="http://schemas.openxmlformats.org/drawingml/2006/main">
              <a:ext uri="{FF2B5EF4-FFF2-40B4-BE49-F238E27FC236}">
                <a16:creationId xmlns:a16="http://schemas.microsoft.com/office/drawing/2014/main" id="{53C783C1-26B8-403B-87AC-1C7C6780A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4B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5-label">
            <a:extLst xmlns:a="http://schemas.openxmlformats.org/drawingml/2006/main">
              <a:ext uri="{FF2B5EF4-FFF2-40B4-BE49-F238E27FC236}">
                <a16:creationId xmlns:a16="http://schemas.microsoft.com/office/drawing/2014/main" id="{F20228B4-0C22-451E-A986-6E933510F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E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5E6673"/>
                </a:solidFill>
                <a:latin typeface="Microsoft YaHei"/>
                <a:ea typeface="Microsoft YaHei"/>
                <a:cs typeface="Microsoft YaHei"/>
              </a:rPr>
              <a:t>SAMPLE PATTERN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4F8EC9-8D7F-4B5D-BF80-436298937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8096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22831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222831"/>
                </a:solidFill>
                <a:latin typeface="Georgia"/>
                <a:ea typeface="Georgia"/>
                <a:cs typeface="Georgia"/>
              </a:rPr>
              <a:t>Students use the gym, but not the free-weight area.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7F4262-4F0C-43FF-B855-51B81FB6F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7429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E6673"/>
                </a:solidFill>
                <a:latin typeface="Microsoft YaHei"/>
                <a:ea typeface="Microsoft YaHei"/>
                <a:cs typeface="Microsoft YaHei"/>
              </a:rPr>
              <a:t>样本不是不运动，而是在健身房内部呈现区域分化。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159702-DAB8-4610-B382-0C9CD798C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171700"/>
            <a:ext cx="45720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CDBB"/>
            </a:solidFill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1a7faa934c4bca"/>
          <a:stretch xmlns:a="http://schemas.openxmlformats.org/drawingml/2006/main"/>
        </p:blipFill>
        <p:spPr>
          <a:xfrm xmlns:a="http://schemas.openxmlformats.org/drawingml/2006/main">
            <a:off x="6096000" y="2940219"/>
            <a:ext cx="4381500" cy="1796712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AE9EFC-564D-4539-87B2-17813E534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486400"/>
            <a:ext cx="438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E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E6673"/>
                </a:solidFill>
                <a:latin typeface="Microsoft YaHei"/>
                <a:ea typeface="Microsoft YaHei"/>
                <a:cs typeface="Microsoft YaHei"/>
              </a:rPr>
              <a:t>Most-used gym areas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2EA8DC-A309-4826-9B35-9070B726B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38400"/>
            <a:ext cx="2190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F7C77"/>
                </a:solidFill>
                <a:latin typeface="Georgia"/>
                <a:ea typeface="Georgia"/>
                <a:cs typeface="Georgia"/>
              </a:defRPr>
            </a:pPr>
            <a:r>
              <a:rPr sz="2700" b="1">
                <a:solidFill>
                  <a:srgbClr val="2F7C77"/>
                </a:solidFill>
                <a:latin typeface="Georgia"/>
                <a:ea typeface="Georgia"/>
                <a:cs typeface="Georgia"/>
              </a:rPr>
              <a:t>78.13%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90ED0B-7B30-4E3B-B492-8CC3BD1A0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90850"/>
            <a:ext cx="2190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E6673"/>
                </a:solidFill>
                <a:latin typeface="Microsoft YaHei"/>
                <a:ea typeface="Microsoft YaHei"/>
                <a:cs typeface="Microsoft YaHei"/>
              </a:rPr>
              <a:t>have used the campus gym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FA79A8-BA52-4F51-B3D0-BDF952674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38550"/>
            <a:ext cx="2381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C08B32"/>
                </a:solidFill>
                <a:latin typeface="Georgia"/>
                <a:ea typeface="Georgia"/>
                <a:cs typeface="Georgia"/>
              </a:defRPr>
            </a:pPr>
            <a:r>
              <a:rPr sz="2700" b="1">
                <a:solidFill>
                  <a:srgbClr val="C08B32"/>
                </a:solidFill>
                <a:latin typeface="Georgia"/>
                <a:ea typeface="Georgia"/>
                <a:cs typeface="Georgia"/>
              </a:rPr>
              <a:t>65.63%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913A0F-7D2B-40DC-A217-FCFB047CE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91000"/>
            <a:ext cx="238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E6673"/>
                </a:solidFill>
                <a:latin typeface="Microsoft YaHei"/>
                <a:ea typeface="Microsoft YaHei"/>
                <a:cs typeface="Microsoft YaHei"/>
              </a:rPr>
              <a:t>most commonly use cardio areas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FAB098-3235-4F7B-AEA9-D6F014479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38700"/>
            <a:ext cx="2381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B44B3F"/>
                </a:solidFill>
                <a:latin typeface="Georgia"/>
                <a:ea typeface="Georgia"/>
                <a:cs typeface="Georgia"/>
              </a:defRPr>
            </a:pPr>
            <a:r>
              <a:rPr sz="2700" b="1">
                <a:solidFill>
                  <a:srgbClr val="B44B3F"/>
                </a:solidFill>
                <a:latin typeface="Georgia"/>
                <a:ea typeface="Georgia"/>
                <a:cs typeface="Georgia"/>
              </a:rPr>
              <a:t>15.63%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298C57-710F-4595-A28F-2AEEE40CA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91150"/>
            <a:ext cx="238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E6673"/>
                </a:solidFill>
                <a:latin typeface="Microsoft YaHei"/>
                <a:ea typeface="Microsoft YaHei"/>
                <a:cs typeface="Microsoft YaHei"/>
              </a:rPr>
              <a:t>most commonly use free weights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A7F534-106C-46BC-B9C1-AF79EEE0B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D8C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7CFA2E-4129-474C-9804-1DF12A5D5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B7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B746C"/>
                </a:solidFill>
                <a:latin typeface="Microsoft YaHei"/>
                <a:ea typeface="Microsoft YaHei"/>
                <a:cs typeface="Microsoft YaHei"/>
              </a:rPr>
              <a:t>Survey descriptive results, N=32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837C51-A162-47A4-8E97-AF5B8B038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B7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B746C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48348220"/>
      </p:ext>
    </p:extLst>
  </p:cSld>
</p:sld>
</file>

<file path=ppt/slides/slide6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/>
      </p:grpSpPr>
      <p:sp>
        <p:nvSpPr>
          <p:cNvPr id="1" name="">
            <a:extLst>
              <a:ext uri="{FF2B5EF4-FFF2-40B4-BE49-F238E27FC236}">
                <ns2:creationId id="{AA4980AF-EFE8-4F39-AC55-79733F7E74F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2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6-marker">
            <a:extLst>
              <a:ext uri="{FF2B5EF4-FFF2-40B4-BE49-F238E27FC236}">
                <ns2:creationId id="{2272C8FA-286D-412E-8C05-768AC2C4BF79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95250" cy="95250"/>
          </a:xfrm>
          <a:prstGeom prst="rect">
            <a:avLst/>
          </a:prstGeom>
          <a:solidFill>
            <a:srgbClr val="B44B3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6-label">
            <a:extLst>
              <a:ext uri="{FF2B5EF4-FFF2-40B4-BE49-F238E27FC236}">
                <ns2:creationId id="{FA40A9A1-A729-4D3B-88FB-7F5B3FA51427}"/>
              </a:ext>
            </a:extLst>
          </p:cNvPr>
          <p:cNvSpPr>
            <a:spLocks noGrp="1"/>
          </p:cNvSpPr>
          <p:nvPr/>
        </p:nvSpPr>
        <p:spPr>
          <a:xfrm>
            <a:off x="800100" y="371475"/>
            <a:ext cx="3429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5E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5E6673"/>
                </a:solidFill>
                <a:latin typeface="Microsoft YaHei"/>
                <a:ea typeface="Microsoft YaHei"/>
                <a:cs typeface="Microsoft YaHei"/>
              </a:rPr>
              <a:t>RQ1 FINDING</a:t>
            </a:r>
          </a:p>
        </p:txBody>
      </p:sp>
      <p:sp>
        <p:nvSpPr>
          <p:cNvPr id="4" name="">
            <a:extLst>
              <a:ext uri="{FF2B5EF4-FFF2-40B4-BE49-F238E27FC236}">
                <ns2:creationId id="{173CDBA5-0660-496A-83E1-E997B05E767A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809625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222831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222831"/>
                </a:solidFill>
                <a:latin typeface="Georgia"/>
                <a:ea typeface="Georgia"/>
                <a:cs typeface="Georgia"/>
              </a:rPr>
              <a:t>Spatial pressure is the clearest mechanism behind free-weight avoidance.</a:t>
            </a:r>
          </a:p>
        </p:txBody>
      </p:sp>
      <p:sp>
        <p:nvSpPr>
          <p:cNvPr id="5" name="">
            <a:extLst>
              <a:ext uri="{FF2B5EF4-FFF2-40B4-BE49-F238E27FC236}">
                <ns2:creationId id="{53F45173-AAD1-4959-8B05-9A271B1BEDD2}"/>
              </a:ext>
            </a:extLst>
          </p:cNvPr>
          <p:cNvSpPr>
            <a:spLocks noGrp="1"/>
          </p:cNvSpPr>
          <p:nvPr/>
        </p:nvSpPr>
        <p:spPr>
          <a:xfrm>
            <a:off x="609600" y="1676400"/>
            <a:ext cx="7429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E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E6673"/>
                </a:solidFill>
                <a:latin typeface="Microsoft YaHei"/>
                <a:ea typeface="Microsoft YaHei"/>
                <a:cs typeface="Microsoft YaHei"/>
              </a:rPr>
              <a:t>男性占多数、拥挤、动作错误羞耻共同构成空间门槛。</a:t>
            </a:r>
          </a:p>
        </p:txBody>
      </p:sp>
      <p:sp>
        <p:nvSpPr>
          <p:cNvPr id="6" name="">
            <a:extLst>
              <a:ext uri="{FF2B5EF4-FFF2-40B4-BE49-F238E27FC236}">
                <ns2:creationId id="{3CB7069B-AEFC-41C2-84BA-C5E7A603A394}"/>
              </a:ext>
            </a:extLst>
          </p:cNvPr>
          <p:cNvSpPr>
            <a:spLocks noGrp="1"/>
          </p:cNvSpPr>
          <p:nvPr/>
        </p:nvSpPr>
        <p:spPr>
          <a:xfrm>
            <a:off x="6762750" y="2152650"/>
            <a:ext cx="3905250" cy="3238500"/>
          </a:xfrm>
          <a:prstGeom prst="rect">
            <a:avLst/>
          </a:prstGeom>
          <a:solidFill>
            <a:srgbClr val="FFFDF8"/>
          </a:solidFill>
          <a:ln w="9525">
            <a:solidFill>
              <a:srgbClr val="D9CDBB"/>
            </a:solidFill>
            <a:prstDash val="solid"/>
          </a:ln>
        </p:spPr>
      </p:sp>
      <p:pic>
        <p:nvPicPr>
          <p:cNvPr id="7" name=""/>
          <p:cNvPicPr>
            <a:picLocks noChangeAspect="1"/>
          </p:cNvPicPr>
          <p:nvPr/>
        </p:nvPicPr>
        <p:blipFill>
          <a:blip r:embed="R56d152443b724541"/>
          <a:stretch/>
        </p:blipFill>
        <p:spPr>
          <a:xfrm>
            <a:off x="6858000" y="3144948"/>
            <a:ext cx="3714750" cy="1253904"/>
          </a:xfrm>
          <a:prstGeom prst="rect">
            <a:avLst/>
          </a:prstGeom>
        </p:spPr>
      </p:pic>
      <p:sp>
        <p:nvSpPr>
          <p:cNvPr id="8" name="">
            <a:extLst>
              <a:ext uri="{FF2B5EF4-FFF2-40B4-BE49-F238E27FC236}">
                <ns2:creationId id="{F8C8F62A-6BDA-48D6-82BC-3F92EA0553A5}"/>
              </a:ext>
            </a:extLst>
          </p:cNvPr>
          <p:cNvSpPr>
            <a:spLocks noGrp="1"/>
          </p:cNvSpPr>
          <p:nvPr/>
        </p:nvSpPr>
        <p:spPr>
          <a:xfrm>
            <a:off x="6858000" y="5372100"/>
            <a:ext cx="3714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0">
                <a:solidFill>
                  <a:srgbClr val="5E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E6673"/>
                </a:solidFill>
                <a:latin typeface="Microsoft YaHei"/>
                <a:ea typeface="Microsoft YaHei"/>
                <a:cs typeface="Microsoft YaHei"/>
              </a:rPr>
              <a:t>Participant-level support</a:t>
            </a:r>
          </a:p>
        </p:txBody>
      </p:sp>
      <p:sp>
        <p:nvSpPr>
          <p:cNvPr id="9" name="">
            <a:extLst>
              <a:ext uri="{FF2B5EF4-FFF2-40B4-BE49-F238E27FC236}">
                <ns2:creationId id="{F4CC4C50-59B8-4188-9A16-D144B8555923}"/>
              </a:ext>
            </a:extLst>
          </p:cNvPr>
          <p:cNvSpPr>
            <a:spLocks noGrp="1"/>
          </p:cNvSpPr>
          <p:nvPr/>
        </p:nvSpPr>
        <p:spPr>
          <a:xfrm>
            <a:off x="781050" y="2609850"/>
            <a:ext cx="2762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2228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22831"/>
                </a:solidFill>
                <a:latin typeface="Microsoft YaHei"/>
                <a:ea typeface="Microsoft YaHei"/>
                <a:cs typeface="Microsoft YaHei"/>
              </a:rPr>
              <a:t>Spatial pressure/training anxiety</a:t>
            </a:r>
          </a:p>
        </p:txBody>
      </p:sp>
      <p:sp>
        <p:nvSpPr>
          <p:cNvPr id="10" name="">
            <a:extLst>
              <a:ext uri="{FF2B5EF4-FFF2-40B4-BE49-F238E27FC236}">
                <ns2:creationId id="{AF8971D0-40DC-4890-9DB8-5DD535F79528}"/>
              </a:ext>
            </a:extLst>
          </p:cNvPr>
          <p:cNvSpPr>
            <a:spLocks noGrp="1"/>
          </p:cNvSpPr>
          <p:nvPr/>
        </p:nvSpPr>
        <p:spPr>
          <a:xfrm>
            <a:off x="3676650" y="2647950"/>
            <a:ext cx="1619250" cy="171450"/>
          </a:xfrm>
          <a:prstGeom prst="rect">
            <a:avLst/>
          </a:prstGeom>
          <a:solidFill>
            <a:srgbClr val="E7DED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>
              <a:ext uri="{FF2B5EF4-FFF2-40B4-BE49-F238E27FC236}">
                <ns2:creationId id="{BB2801AB-2A41-4E62-8C0E-FEAB0D504992}"/>
              </a:ext>
            </a:extLst>
          </p:cNvPr>
          <p:cNvSpPr>
            <a:spLocks noGrp="1"/>
          </p:cNvSpPr>
          <p:nvPr/>
        </p:nvSpPr>
        <p:spPr>
          <a:xfrm>
            <a:off x="3676650" y="2647950"/>
            <a:ext cx="1315641" cy="171450"/>
          </a:xfrm>
          <a:prstGeom prst="rect">
            <a:avLst/>
          </a:prstGeom>
          <a:solidFill>
            <a:srgbClr val="B44B3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>
              <a:ext uri="{FF2B5EF4-FFF2-40B4-BE49-F238E27FC236}">
                <ns2:creationId id="{BCFDB298-F7A3-4365-BB14-8F1B28CC712F}"/>
              </a:ext>
            </a:extLst>
          </p:cNvPr>
          <p:cNvSpPr>
            <a:spLocks noGrp="1"/>
          </p:cNvSpPr>
          <p:nvPr/>
        </p:nvSpPr>
        <p:spPr>
          <a:xfrm>
            <a:off x="5391150" y="2609850"/>
            <a:ext cx="666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B44B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B44B3F"/>
                </a:solidFill>
                <a:latin typeface="Microsoft YaHei"/>
                <a:ea typeface="Microsoft YaHei"/>
                <a:cs typeface="Microsoft YaHei"/>
              </a:rPr>
              <a:t>M=3.72</a:t>
            </a:r>
          </a:p>
        </p:txBody>
      </p:sp>
      <p:sp>
        <p:nvSpPr>
          <p:cNvPr id="13" name="">
            <a:extLst>
              <a:ext uri="{FF2B5EF4-FFF2-40B4-BE49-F238E27FC236}">
                <ns2:creationId id="{E86A6D05-57C5-446F-BE02-9EE86060090F}"/>
              </a:ext>
            </a:extLst>
          </p:cNvPr>
          <p:cNvSpPr>
            <a:spLocks noGrp="1"/>
          </p:cNvSpPr>
          <p:nvPr/>
        </p:nvSpPr>
        <p:spPr>
          <a:xfrm>
            <a:off x="781050" y="3124200"/>
            <a:ext cx="2762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2228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22831"/>
                </a:solidFill>
                <a:latin typeface="Microsoft YaHei"/>
                <a:ea typeface="Microsoft YaHei"/>
                <a:cs typeface="Microsoft YaHei"/>
              </a:rPr>
              <a:t>Short-item reliability</a:t>
            </a:r>
          </a:p>
        </p:txBody>
      </p:sp>
      <p:sp>
        <p:nvSpPr>
          <p:cNvPr id="14" name="">
            <a:extLst>
              <a:ext uri="{FF2B5EF4-FFF2-40B4-BE49-F238E27FC236}">
                <ns2:creationId id="{7394627F-1946-4BCE-874C-D23BC1094E80}"/>
              </a:ext>
            </a:extLst>
          </p:cNvPr>
          <p:cNvSpPr>
            <a:spLocks noGrp="1"/>
          </p:cNvSpPr>
          <p:nvPr/>
        </p:nvSpPr>
        <p:spPr>
          <a:xfrm>
            <a:off x="3676650" y="3162300"/>
            <a:ext cx="1619250" cy="171450"/>
          </a:xfrm>
          <a:prstGeom prst="rect">
            <a:avLst/>
          </a:prstGeom>
          <a:solidFill>
            <a:srgbClr val="E7DED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>
              <a:ext uri="{FF2B5EF4-FFF2-40B4-BE49-F238E27FC236}">
                <ns2:creationId id="{A962360A-B45A-4F8E-A003-1456D93806B9}"/>
              </a:ext>
            </a:extLst>
          </p:cNvPr>
          <p:cNvSpPr>
            <a:spLocks noGrp="1"/>
          </p:cNvSpPr>
          <p:nvPr/>
        </p:nvSpPr>
        <p:spPr>
          <a:xfrm>
            <a:off x="3676650" y="3162300"/>
            <a:ext cx="1214438" cy="171450"/>
          </a:xfrm>
          <a:prstGeom prst="rect">
            <a:avLst/>
          </a:prstGeom>
          <a:solidFill>
            <a:srgbClr val="C08B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>
              <a:ext uri="{FF2B5EF4-FFF2-40B4-BE49-F238E27FC236}">
                <ns2:creationId id="{0B21E39E-7CD3-4C63-B7EF-47DA12CA1F59}"/>
              </a:ext>
            </a:extLst>
          </p:cNvPr>
          <p:cNvSpPr>
            <a:spLocks noGrp="1"/>
          </p:cNvSpPr>
          <p:nvPr/>
        </p:nvSpPr>
        <p:spPr>
          <a:xfrm>
            <a:off x="5391150" y="3124200"/>
            <a:ext cx="666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C08B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08B32"/>
                </a:solidFill>
                <a:latin typeface="Microsoft YaHei"/>
                <a:ea typeface="Microsoft YaHei"/>
                <a:cs typeface="Microsoft YaHei"/>
              </a:rPr>
              <a:t>alpha=.81</a:t>
            </a:r>
          </a:p>
        </p:txBody>
      </p:sp>
      <p:sp>
        <p:nvSpPr>
          <p:cNvPr id="17" name="">
            <a:extLst>
              <a:ext uri="{FF2B5EF4-FFF2-40B4-BE49-F238E27FC236}">
                <ns2:creationId id="{FEAB68CF-356D-4966-A9A3-3EEC62F7D5C5}"/>
              </a:ext>
            </a:extLst>
          </p:cNvPr>
          <p:cNvSpPr>
            <a:spLocks noGrp="1"/>
          </p:cNvSpPr>
          <p:nvPr/>
        </p:nvSpPr>
        <p:spPr>
          <a:xfrm>
            <a:off x="781050" y="3638550"/>
            <a:ext cx="2762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2228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22831"/>
                </a:solidFill>
                <a:latin typeface="Microsoft YaHei"/>
                <a:ea typeface="Microsoft YaHei"/>
                <a:cs typeface="Microsoft YaHei"/>
              </a:rPr>
              <a:t>Association with avoidance</a:t>
            </a:r>
          </a:p>
        </p:txBody>
      </p:sp>
      <p:sp>
        <p:nvSpPr>
          <p:cNvPr id="18" name="">
            <a:extLst>
              <a:ext uri="{FF2B5EF4-FFF2-40B4-BE49-F238E27FC236}">
                <ns2:creationId id="{C0F19C47-EAAE-438D-940C-9E2C47423C14}"/>
              </a:ext>
            </a:extLst>
          </p:cNvPr>
          <p:cNvSpPr>
            <a:spLocks noGrp="1"/>
          </p:cNvSpPr>
          <p:nvPr/>
        </p:nvSpPr>
        <p:spPr>
          <a:xfrm>
            <a:off x="3676650" y="3676650"/>
            <a:ext cx="1619250" cy="171450"/>
          </a:xfrm>
          <a:prstGeom prst="rect">
            <a:avLst/>
          </a:prstGeom>
          <a:solidFill>
            <a:srgbClr val="E7DED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>
              <a:ext uri="{FF2B5EF4-FFF2-40B4-BE49-F238E27FC236}">
                <ns2:creationId id="{B32FC930-5584-4855-87B6-CF39AE5BEE22}"/>
              </a:ext>
            </a:extLst>
          </p:cNvPr>
          <p:cNvSpPr>
            <a:spLocks noGrp="1"/>
          </p:cNvSpPr>
          <p:nvPr/>
        </p:nvSpPr>
        <p:spPr>
          <a:xfrm>
            <a:off x="3676650" y="3676650"/>
            <a:ext cx="1062714" cy="171450"/>
          </a:xfrm>
          <a:prstGeom prst="rect">
            <a:avLst/>
          </a:prstGeom>
          <a:solidFill>
            <a:srgbClr val="2F7C7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>
              <a:ext uri="{FF2B5EF4-FFF2-40B4-BE49-F238E27FC236}">
                <ns2:creationId id="{7F4303DD-4662-4975-8E40-910F771195B5}"/>
              </a:ext>
            </a:extLst>
          </p:cNvPr>
          <p:cNvSpPr>
            <a:spLocks noGrp="1"/>
          </p:cNvSpPr>
          <p:nvPr/>
        </p:nvSpPr>
        <p:spPr>
          <a:xfrm>
            <a:off x="5391150" y="3638550"/>
            <a:ext cx="666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2F7C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F7C77"/>
                </a:solidFill>
                <a:latin typeface="Microsoft YaHei"/>
                <a:ea typeface="Microsoft YaHei"/>
                <a:cs typeface="Microsoft YaHei"/>
              </a:rPr>
              <a:t>rho=.65</a:t>
            </a:r>
          </a:p>
        </p:txBody>
      </p:sp>
      <p:sp>
        <p:nvSpPr>
          <p:cNvPr id="21" name="">
            <a:extLst>
              <a:ext uri="{FF2B5EF4-FFF2-40B4-BE49-F238E27FC236}">
                <ns2:creationId id="{B49A6E5F-A7C9-41F3-8894-9D39AB193E54}"/>
              </a:ext>
            </a:extLst>
          </p:cNvPr>
          <p:cNvSpPr>
            <a:spLocks noGrp="1"/>
          </p:cNvSpPr>
          <p:nvPr/>
        </p:nvSpPr>
        <p:spPr>
          <a:xfrm>
            <a:off x="781050" y="4152900"/>
            <a:ext cx="2762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2228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22831"/>
                </a:solidFill>
                <a:latin typeface="Microsoft YaHei"/>
                <a:ea typeface="Microsoft YaHei"/>
                <a:cs typeface="Microsoft YaHei"/>
              </a:rPr>
              <a:t>Free-weight users report less pressure</a:t>
            </a:r>
          </a:p>
        </p:txBody>
      </p:sp>
      <p:sp>
        <p:nvSpPr>
          <p:cNvPr id="22" name="">
            <a:extLst>
              <a:ext uri="{FF2B5EF4-FFF2-40B4-BE49-F238E27FC236}">
                <ns2:creationId id="{102E5540-6278-4DEF-BCE6-3A8C72FC9798}"/>
              </a:ext>
            </a:extLst>
          </p:cNvPr>
          <p:cNvSpPr>
            <a:spLocks noGrp="1"/>
          </p:cNvSpPr>
          <p:nvPr/>
        </p:nvSpPr>
        <p:spPr>
          <a:xfrm>
            <a:off x="3676650" y="4191000"/>
            <a:ext cx="1619250" cy="171450"/>
          </a:xfrm>
          <a:prstGeom prst="rect">
            <a:avLst/>
          </a:prstGeom>
          <a:solidFill>
            <a:srgbClr val="E7DED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>
              <a:ext uri="{FF2B5EF4-FFF2-40B4-BE49-F238E27FC236}">
                <ns2:creationId id="{945DA41C-78FE-4A01-808B-92BFA59B769F}"/>
              </a:ext>
            </a:extLst>
          </p:cNvPr>
          <p:cNvSpPr>
            <a:spLocks noGrp="1"/>
          </p:cNvSpPr>
          <p:nvPr/>
        </p:nvSpPr>
        <p:spPr>
          <a:xfrm>
            <a:off x="3676650" y="4191000"/>
            <a:ext cx="1012031" cy="171450"/>
          </a:xfrm>
          <a:prstGeom prst="rect">
            <a:avLst/>
          </a:prstGeom>
          <a:solidFill>
            <a:srgbClr val="546A8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>
              <a:ext uri="{FF2B5EF4-FFF2-40B4-BE49-F238E27FC236}">
                <ns2:creationId id="{113DA689-D795-4D7A-99B4-AEC8BD6979E7}"/>
              </a:ext>
            </a:extLst>
          </p:cNvPr>
          <p:cNvSpPr>
            <a:spLocks noGrp="1"/>
          </p:cNvSpPr>
          <p:nvPr/>
        </p:nvSpPr>
        <p:spPr>
          <a:xfrm>
            <a:off x="5391150" y="4152900"/>
            <a:ext cx="666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546A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546A8B"/>
                </a:solidFill>
                <a:latin typeface="Microsoft YaHei"/>
                <a:ea typeface="Microsoft YaHei"/>
                <a:cs typeface="Microsoft YaHei"/>
              </a:rPr>
              <a:t>2.60 vs 3.92</a:t>
            </a:r>
          </a:p>
        </p:txBody>
      </p:sp>
      <p:sp>
        <p:nvSpPr>
          <p:cNvPr id="25" name="">
            <a:extLst>
              <a:ext uri="{FF2B5EF4-FFF2-40B4-BE49-F238E27FC236}">
                <ns2:creationId id="{4CBE3A23-0D26-40B0-A021-79217F0D607D}"/>
              </a:ext>
            </a:extLst>
          </p:cNvPr>
          <p:cNvSpPr>
            <a:spLocks noGrp="1"/>
          </p:cNvSpPr>
          <p:nvPr/>
        </p:nvSpPr>
        <p:spPr>
          <a:xfrm>
            <a:off x="800100" y="4933950"/>
            <a:ext cx="4000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B44B3F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B44B3F"/>
                </a:solidFill>
                <a:latin typeface="Georgia"/>
                <a:ea typeface="Georgia"/>
                <a:cs typeface="Georgia"/>
              </a:rPr>
              <a:t>68.75% avoided at least sometimes; pressure correlates with avoidance (p&lt;.001).</a:t>
            </a:r>
          </a:p>
        </p:txBody>
      </p:sp>
      <p:sp>
        <p:nvSpPr>
          <p:cNvPr id="26" name="">
            <a:extLst>
              <a:ext uri="{FF2B5EF4-FFF2-40B4-BE49-F238E27FC236}">
                <ns2:creationId id="{0805576C-ED94-4186-B3E9-E09A632E9377}"/>
              </a:ext>
            </a:extLst>
          </p:cNvPr>
          <p:cNvSpPr>
            <a:spLocks noGrp="1"/>
          </p:cNvSpPr>
          <p:nvPr/>
        </p:nvSpPr>
        <p:spPr>
          <a:xfrm>
            <a:off x="609600" y="6334125"/>
            <a:ext cx="9810750" cy="9525"/>
          </a:xfrm>
          <a:prstGeom prst="rect">
            <a:avLst/>
          </a:prstGeom>
          <a:solidFill>
            <a:srgbClr val="E2D8C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>
              <a:ext uri="{FF2B5EF4-FFF2-40B4-BE49-F238E27FC236}">
                <ns2:creationId id="{13AA0961-30D6-4C85-A3B7-7541604096F1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723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7B7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B746C"/>
                </a:solidFill>
                <a:latin typeface="Microsoft YaHei"/>
                <a:ea typeface="Microsoft YaHei"/>
                <a:cs typeface="Microsoft YaHei"/>
              </a:rPr>
              <a:t>Participant-level scores, Spearman correlation, and avoidance frequency</a:t>
            </a:r>
          </a:p>
        </p:txBody>
      </p:sp>
      <p:sp>
        <p:nvSpPr>
          <p:cNvPr id="28" name="">
            <a:extLst>
              <a:ext uri="{FF2B5EF4-FFF2-40B4-BE49-F238E27FC236}">
                <ns2:creationId id="{D90DB01C-1022-4097-B358-EC263236C739}"/>
              </a:ext>
            </a:extLst>
          </p:cNvPr>
          <p:cNvSpPr>
            <a:spLocks noGrp="1"/>
          </p:cNvSpPr>
          <p:nvPr/>
        </p:nvSpPr>
        <p:spPr>
          <a:xfrm>
            <a:off x="10953750" y="6419850"/>
            <a:ext cx="628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7B7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B746C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ns4:creationId val="396007075"/>
      </p:ext>
    </p:extLst>
  </p:cSld>
</p:sld>
</file>

<file path=ppt/slides/slide7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/>
      </p:grpSpPr>
      <p:sp>
        <p:nvSpPr>
          <p:cNvPr id="1" name="">
            <a:extLst>
              <a:ext uri="{FF2B5EF4-FFF2-40B4-BE49-F238E27FC236}">
                <ns2:creationId id="{1568E617-5487-4373-A65D-4AE0C22D8E3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2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7-marker">
            <a:extLst>
              <a:ext uri="{FF2B5EF4-FFF2-40B4-BE49-F238E27FC236}">
                <ns2:creationId id="{12CAB686-902A-4454-8FB0-78686AA86CC9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95250" cy="95250"/>
          </a:xfrm>
          <a:prstGeom prst="rect">
            <a:avLst/>
          </a:prstGeom>
          <a:solidFill>
            <a:srgbClr val="B44B3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7-label">
            <a:extLst>
              <a:ext uri="{FF2B5EF4-FFF2-40B4-BE49-F238E27FC236}">
                <ns2:creationId id="{45ED504F-1179-470C-B533-3A1F62BE13DA}"/>
              </a:ext>
            </a:extLst>
          </p:cNvPr>
          <p:cNvSpPr>
            <a:spLocks noGrp="1"/>
          </p:cNvSpPr>
          <p:nvPr/>
        </p:nvSpPr>
        <p:spPr>
          <a:xfrm>
            <a:off x="800100" y="371475"/>
            <a:ext cx="3429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5E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5E6673"/>
                </a:solidFill>
                <a:latin typeface="Microsoft YaHei"/>
                <a:ea typeface="Microsoft YaHei"/>
                <a:cs typeface="Microsoft YaHei"/>
              </a:rPr>
              <a:t>RQ2 FINDING</a:t>
            </a:r>
          </a:p>
        </p:txBody>
      </p:sp>
      <p:sp>
        <p:nvSpPr>
          <p:cNvPr id="4" name="">
            <a:extLst>
              <a:ext uri="{FF2B5EF4-FFF2-40B4-BE49-F238E27FC236}">
                <ns2:creationId id="{15376E94-D870-4F6B-A18B-B8ECD291FB60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809625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222831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222831"/>
                </a:solidFill>
                <a:latin typeface="Georgia"/>
                <a:ea typeface="Georgia"/>
                <a:cs typeface="Georgia"/>
              </a:rPr>
              <a:t>Media ideals shape choices, but fear of muscle is not the main barrier.</a:t>
            </a:r>
          </a:p>
        </p:txBody>
      </p:sp>
      <p:sp>
        <p:nvSpPr>
          <p:cNvPr id="5" name="">
            <a:extLst>
              <a:ext uri="{FF2B5EF4-FFF2-40B4-BE49-F238E27FC236}">
                <ns2:creationId id="{10AA0D0B-D126-479A-B386-F2DA55005F09}"/>
              </a:ext>
            </a:extLst>
          </p:cNvPr>
          <p:cNvSpPr>
            <a:spLocks noGrp="1"/>
          </p:cNvSpPr>
          <p:nvPr/>
        </p:nvSpPr>
        <p:spPr>
          <a:xfrm>
            <a:off x="609600" y="1676400"/>
            <a:ext cx="7429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E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E6673"/>
                </a:solidFill>
                <a:latin typeface="Microsoft YaHei"/>
                <a:ea typeface="Microsoft YaHei"/>
                <a:cs typeface="Microsoft YaHei"/>
              </a:rPr>
              <a:t>审美内容有影响，但“怕练壮”在本样本中很弱。</a:t>
            </a:r>
          </a:p>
        </p:txBody>
      </p:sp>
      <p:sp>
        <p:nvSpPr>
          <p:cNvPr id="6" name="">
            <a:extLst>
              <a:ext uri="{FF2B5EF4-FFF2-40B4-BE49-F238E27FC236}">
                <ns2:creationId id="{4358894D-7919-4E15-B7CC-AD81017B5DC9}"/>
              </a:ext>
            </a:extLst>
          </p:cNvPr>
          <p:cNvSpPr>
            <a:spLocks noGrp="1"/>
          </p:cNvSpPr>
          <p:nvPr/>
        </p:nvSpPr>
        <p:spPr>
          <a:xfrm>
            <a:off x="5619750" y="2228850"/>
            <a:ext cx="4953000" cy="3143250"/>
          </a:xfrm>
          <a:prstGeom prst="rect">
            <a:avLst/>
          </a:prstGeom>
          <a:solidFill>
            <a:srgbClr val="FFFDF8"/>
          </a:solidFill>
          <a:ln w="9525">
            <a:solidFill>
              <a:srgbClr val="D9CDBB"/>
            </a:solidFill>
            <a:prstDash val="solid"/>
          </a:ln>
        </p:spPr>
      </p:sp>
      <p:pic>
        <p:nvPicPr>
          <p:cNvPr id="7" name=""/>
          <p:cNvPicPr>
            <a:picLocks noChangeAspect="1"/>
          </p:cNvPicPr>
          <p:nvPr/>
        </p:nvPicPr>
        <p:blipFill>
          <a:blip r:embed="R0afd59ef918341dd"/>
          <a:stretch/>
        </p:blipFill>
        <p:spPr>
          <a:xfrm>
            <a:off x="5715000" y="2990890"/>
            <a:ext cx="4762500" cy="1619169"/>
          </a:xfrm>
          <a:prstGeom prst="rect">
            <a:avLst/>
          </a:prstGeom>
        </p:spPr>
      </p:pic>
      <p:sp>
        <p:nvSpPr>
          <p:cNvPr id="8" name="">
            <a:extLst>
              <a:ext uri="{FF2B5EF4-FFF2-40B4-BE49-F238E27FC236}">
                <ns2:creationId id="{41E5D622-B079-4A0F-B0EB-93912C8F51FD}"/>
              </a:ext>
            </a:extLst>
          </p:cNvPr>
          <p:cNvSpPr>
            <a:spLocks noGrp="1"/>
          </p:cNvSpPr>
          <p:nvPr/>
        </p:nvSpPr>
        <p:spPr>
          <a:xfrm>
            <a:off x="5715000" y="5353050"/>
            <a:ext cx="4762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0">
                <a:solidFill>
                  <a:srgbClr val="5E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E6673"/>
                </a:solidFill>
                <a:latin typeface="Microsoft YaHei"/>
                <a:ea typeface="Microsoft YaHei"/>
                <a:cs typeface="Microsoft YaHei"/>
              </a:rPr>
              <a:t>Social media aesthetic items (alpha=.76)</a:t>
            </a:r>
          </a:p>
        </p:txBody>
      </p:sp>
      <p:sp>
        <p:nvSpPr>
          <p:cNvPr id="9" name="">
            <a:extLst>
              <a:ext uri="{FF2B5EF4-FFF2-40B4-BE49-F238E27FC236}">
                <ns2:creationId id="{39C43ED5-267C-406C-ADE6-FC8012073AC2}"/>
              </a:ext>
            </a:extLst>
          </p:cNvPr>
          <p:cNvSpPr>
            <a:spLocks noGrp="1"/>
          </p:cNvSpPr>
          <p:nvPr/>
        </p:nvSpPr>
        <p:spPr>
          <a:xfrm>
            <a:off x="819150" y="2476500"/>
            <a:ext cx="2619375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2F7C77"/>
                </a:solidFill>
                <a:latin typeface="Georgia"/>
                <a:ea typeface="Georgia"/>
                <a:cs typeface="Georgia"/>
              </a:defRPr>
            </a:pPr>
            <a:r>
              <a:rPr sz="2700" b="1">
                <a:solidFill>
                  <a:srgbClr val="2F7C77"/>
                </a:solidFill>
                <a:latin typeface="Georgia"/>
                <a:ea typeface="Georgia"/>
                <a:cs typeface="Georgia"/>
              </a:rPr>
              <a:t>59.38%</a:t>
            </a:r>
          </a:p>
        </p:txBody>
      </p:sp>
      <p:sp>
        <p:nvSpPr>
          <p:cNvPr id="10" name="">
            <a:extLst>
              <a:ext uri="{FF2B5EF4-FFF2-40B4-BE49-F238E27FC236}">
                <ns2:creationId id="{45755DC1-A03A-4722-9816-7C715F76B072}"/>
              </a:ext>
            </a:extLst>
          </p:cNvPr>
          <p:cNvSpPr>
            <a:spLocks noGrp="1"/>
          </p:cNvSpPr>
          <p:nvPr/>
        </p:nvSpPr>
        <p:spPr>
          <a:xfrm>
            <a:off x="819150" y="3028950"/>
            <a:ext cx="2619375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E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E6673"/>
                </a:solidFill>
                <a:latin typeface="Microsoft YaHei"/>
                <a:ea typeface="Microsoft YaHei"/>
                <a:cs typeface="Microsoft YaHei"/>
              </a:rPr>
              <a:t>say aesthetic content affects exercise choice</a:t>
            </a:r>
          </a:p>
        </p:txBody>
      </p:sp>
      <p:sp>
        <p:nvSpPr>
          <p:cNvPr id="11" name="">
            <a:extLst>
              <a:ext uri="{FF2B5EF4-FFF2-40B4-BE49-F238E27FC236}">
                <ns2:creationId id="{B839BE16-5849-4F02-A03F-F65EA110A1A3}"/>
              </a:ext>
            </a:extLst>
          </p:cNvPr>
          <p:cNvSpPr>
            <a:spLocks noGrp="1"/>
          </p:cNvSpPr>
          <p:nvPr/>
        </p:nvSpPr>
        <p:spPr>
          <a:xfrm>
            <a:off x="819150" y="3676650"/>
            <a:ext cx="28575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6F8E5F"/>
                </a:solidFill>
                <a:latin typeface="Georgia"/>
                <a:ea typeface="Georgia"/>
                <a:cs typeface="Georgia"/>
              </a:defRPr>
            </a:pPr>
            <a:r>
              <a:rPr sz="2700" b="1">
                <a:solidFill>
                  <a:srgbClr val="6F8E5F"/>
                </a:solidFill>
                <a:latin typeface="Georgia"/>
                <a:ea typeface="Georgia"/>
                <a:cs typeface="Georgia"/>
              </a:rPr>
              <a:t>81.25%</a:t>
            </a:r>
          </a:p>
        </p:txBody>
      </p:sp>
      <p:sp>
        <p:nvSpPr>
          <p:cNvPr id="12" name="">
            <a:extLst>
              <a:ext uri="{FF2B5EF4-FFF2-40B4-BE49-F238E27FC236}">
                <ns2:creationId id="{DCC49218-0D0B-41E8-8372-752FA579321C}"/>
              </a:ext>
            </a:extLst>
          </p:cNvPr>
          <p:cNvSpPr>
            <a:spLocks noGrp="1"/>
          </p:cNvSpPr>
          <p:nvPr/>
        </p:nvSpPr>
        <p:spPr>
          <a:xfrm>
            <a:off x="819150" y="4229100"/>
            <a:ext cx="2857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E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E6673"/>
                </a:solidFill>
                <a:latin typeface="Microsoft YaHei"/>
                <a:ea typeface="Microsoft YaHei"/>
                <a:cs typeface="Microsoft YaHei"/>
              </a:rPr>
              <a:t>low agreement with fear of not being slim enough</a:t>
            </a:r>
          </a:p>
        </p:txBody>
      </p:sp>
      <p:sp>
        <p:nvSpPr>
          <p:cNvPr id="13" name="">
            <a:extLst>
              <a:ext uri="{FF2B5EF4-FFF2-40B4-BE49-F238E27FC236}">
                <ns2:creationId id="{2498236A-D1F7-4C4C-88E5-A168E015870E}"/>
              </a:ext>
            </a:extLst>
          </p:cNvPr>
          <p:cNvSpPr>
            <a:spLocks noGrp="1"/>
          </p:cNvSpPr>
          <p:nvPr/>
        </p:nvSpPr>
        <p:spPr>
          <a:xfrm>
            <a:off x="819150" y="4876800"/>
            <a:ext cx="295275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B44B3F"/>
                </a:solidFill>
                <a:latin typeface="Georgia"/>
                <a:ea typeface="Georgia"/>
                <a:cs typeface="Georgia"/>
              </a:defRPr>
            </a:pPr>
            <a:r>
              <a:rPr sz="2700" b="1">
                <a:solidFill>
                  <a:srgbClr val="B44B3F"/>
                </a:solidFill>
                <a:latin typeface="Georgia"/>
                <a:ea typeface="Georgia"/>
                <a:cs typeface="Georgia"/>
              </a:rPr>
              <a:t>0%</a:t>
            </a:r>
          </a:p>
        </p:txBody>
      </p:sp>
      <p:sp>
        <p:nvSpPr>
          <p:cNvPr id="14" name="">
            <a:extLst>
              <a:ext uri="{FF2B5EF4-FFF2-40B4-BE49-F238E27FC236}">
                <ns2:creationId id="{61EA7575-C683-461E-9A90-0B4723964BDC}"/>
              </a:ext>
            </a:extLst>
          </p:cNvPr>
          <p:cNvSpPr>
            <a:spLocks noGrp="1"/>
          </p:cNvSpPr>
          <p:nvPr/>
        </p:nvSpPr>
        <p:spPr>
          <a:xfrm>
            <a:off x="819150" y="5429250"/>
            <a:ext cx="29527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E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E6673"/>
                </a:solidFill>
                <a:latin typeface="Microsoft YaHei"/>
                <a:ea typeface="Microsoft YaHei"/>
                <a:cs typeface="Microsoft YaHei"/>
              </a:rPr>
              <a:t>selected 'do not want visible muscles' as an avoidance reason</a:t>
            </a:r>
          </a:p>
        </p:txBody>
      </p:sp>
      <p:sp>
        <p:nvSpPr>
          <p:cNvPr id="15" name="">
            <a:extLst>
              <a:ext uri="{FF2B5EF4-FFF2-40B4-BE49-F238E27FC236}">
                <ns2:creationId id="{F932C32D-7450-4FFE-8692-C858D39A91A2}"/>
              </a:ext>
            </a:extLst>
          </p:cNvPr>
          <p:cNvSpPr>
            <a:spLocks noGrp="1"/>
          </p:cNvSpPr>
          <p:nvPr/>
        </p:nvSpPr>
        <p:spPr>
          <a:xfrm>
            <a:off x="609600" y="6334125"/>
            <a:ext cx="9810750" cy="9525"/>
          </a:xfrm>
          <a:prstGeom prst="rect">
            <a:avLst/>
          </a:prstGeom>
          <a:solidFill>
            <a:srgbClr val="E2D8C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>
              <a:ext uri="{FF2B5EF4-FFF2-40B4-BE49-F238E27FC236}">
                <ns2:creationId id="{6B8A8C2A-94EE-4BD3-9122-A84736A4C0A4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723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7B7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B746C"/>
                </a:solidFill>
                <a:latin typeface="Microsoft YaHei"/>
                <a:ea typeface="Microsoft YaHei"/>
                <a:cs typeface="Microsoft YaHei"/>
              </a:rPr>
              <a:t>Q21-Q23; media-avoidance rho=.31, p=.084</a:t>
            </a:r>
          </a:p>
        </p:txBody>
      </p:sp>
      <p:sp>
        <p:nvSpPr>
          <p:cNvPr id="17" name="">
            <a:extLst>
              <a:ext uri="{FF2B5EF4-FFF2-40B4-BE49-F238E27FC236}">
                <ns2:creationId id="{2D5D07FD-B156-4469-8684-4D3715FBEAC0}"/>
              </a:ext>
            </a:extLst>
          </p:cNvPr>
          <p:cNvSpPr>
            <a:spLocks noGrp="1"/>
          </p:cNvSpPr>
          <p:nvPr/>
        </p:nvSpPr>
        <p:spPr>
          <a:xfrm>
            <a:off x="10953750" y="6419850"/>
            <a:ext cx="628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7B7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B746C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ns4:creationId val="15957228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B8F4EF3-791E-408F-B37D-9AE27DA35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8-marker">
            <a:extLst xmlns:a="http://schemas.openxmlformats.org/drawingml/2006/main">
              <a:ext uri="{FF2B5EF4-FFF2-40B4-BE49-F238E27FC236}">
                <a16:creationId xmlns:a16="http://schemas.microsoft.com/office/drawing/2014/main" id="{B67737B1-81BE-4200-9BFB-0A1A49181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4B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8-label">
            <a:extLst xmlns:a="http://schemas.openxmlformats.org/drawingml/2006/main">
              <a:ext uri="{FF2B5EF4-FFF2-40B4-BE49-F238E27FC236}">
                <a16:creationId xmlns:a16="http://schemas.microsoft.com/office/drawing/2014/main" id="{FAA62CA3-F340-49C8-B8B7-C97C616A4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E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5E6673"/>
                </a:solidFill>
                <a:latin typeface="Microsoft YaHei"/>
                <a:ea typeface="Microsoft YaHei"/>
                <a:cs typeface="Microsoft YaHei"/>
              </a:rPr>
              <a:t>INTERVIEW EXPLANATION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BDFA37-22EA-4858-95A2-E968A5709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8096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22831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222831"/>
                </a:solidFill>
                <a:latin typeface="Georgia"/>
                <a:ea typeface="Georgia"/>
                <a:cs typeface="Georgia"/>
              </a:rPr>
              <a:t>The numbers point to visibility, beginner shame, and gendered atmosphere.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2B9D2E-FAFF-4816-9048-58F2E9F38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7429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E6673"/>
                </a:solidFill>
                <a:latin typeface="Microsoft YaHei"/>
                <a:ea typeface="Microsoft YaHei"/>
                <a:cs typeface="Microsoft YaHei"/>
              </a:rPr>
              <a:t>访谈将描述性数字转化为具体场景机制。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190F32-8201-4174-93C4-6B5687568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09800"/>
            <a:ext cx="45720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2F7C7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3A7120-CA8A-408F-8E2D-84F3E3B32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81250"/>
            <a:ext cx="4095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831"/>
                </a:solidFill>
                <a:latin typeface="Georgia"/>
                <a:ea typeface="Georgia"/>
                <a:cs typeface="Georgia"/>
              </a:defRPr>
            </a:pPr>
            <a:r>
              <a:rPr sz="1275" b="0">
                <a:solidFill>
                  <a:srgbClr val="222831"/>
                </a:solidFill>
                <a:latin typeface="Georgia"/>
                <a:ea typeface="Georgia"/>
                <a:cs typeface="Georgia"/>
              </a:rPr>
              <a:t>“The strength area has mirrors, so you can see others and feel more seen.”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6711CF-8B22-45AE-84D2-3F6917FBD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0515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7C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F7C77"/>
                </a:solidFill>
                <a:latin typeface="Microsoft YaHei"/>
                <a:ea typeface="Microsoft YaHei"/>
                <a:cs typeface="Microsoft YaHei"/>
              </a:rPr>
              <a:t>P1 / spatial visibility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DFC4C9-92A0-4873-9DD0-DB3047D27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71900"/>
            <a:ext cx="45720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B44B3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AA0EC7-5323-45C7-9F2C-BA2656E5A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43350"/>
            <a:ext cx="4095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831"/>
                </a:solidFill>
                <a:latin typeface="Georgia"/>
                <a:ea typeface="Georgia"/>
                <a:cs typeface="Georgia"/>
              </a:defRPr>
            </a:pPr>
            <a:r>
              <a:rPr sz="1275" b="0">
                <a:solidFill>
                  <a:srgbClr val="222831"/>
                </a:solidFill>
                <a:latin typeface="Georgia"/>
                <a:ea typeface="Georgia"/>
                <a:cs typeface="Georgia"/>
              </a:rPr>
              <a:t>“I am a beginner. I worry I do not know the equipment or my form is wrong.”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EEC56C-1CCC-4DF4-BABC-7AC8173D4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6725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44B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B44B3F"/>
                </a:solidFill>
                <a:latin typeface="Microsoft YaHei"/>
                <a:ea typeface="Microsoft YaHei"/>
                <a:cs typeface="Microsoft YaHei"/>
              </a:rPr>
              <a:t>P3 / beginner threshold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AC47F3-505C-4058-BFFB-6DB86C03E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09800"/>
            <a:ext cx="45720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C08B3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A980AC-874D-4A20-85E8-AAEC2EAA1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381250"/>
            <a:ext cx="4095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831"/>
                </a:solidFill>
                <a:latin typeface="Georgia"/>
                <a:ea typeface="Georgia"/>
                <a:cs typeface="Georgia"/>
              </a:defRPr>
            </a:pPr>
            <a:r>
              <a:rPr sz="1275" b="0">
                <a:solidFill>
                  <a:srgbClr val="222831"/>
                </a:solidFill>
                <a:latin typeface="Georgia"/>
                <a:ea typeface="Georgia"/>
                <a:cs typeface="Georgia"/>
              </a:rPr>
              <a:t>“Most people training there are men, so girls may feel distance from the atmosphere.”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3B3B02-5D4C-469C-A76E-2920E4B40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0515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08B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C08B32"/>
                </a:solidFill>
                <a:latin typeface="Microsoft YaHei"/>
                <a:ea typeface="Microsoft YaHei"/>
                <a:cs typeface="Microsoft YaHei"/>
              </a:rPr>
              <a:t>P2 / male-dominated atmosphere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BDDB06-2787-47F1-AEEF-9D2F686D8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71900"/>
            <a:ext cx="45720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6F8E5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DA0D28-A3A8-42ED-BA36-B0BEAE583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943350"/>
            <a:ext cx="4095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831"/>
                </a:solidFill>
                <a:latin typeface="Georgia"/>
                <a:ea typeface="Georgia"/>
                <a:cs typeface="Georgia"/>
              </a:defRPr>
            </a:pPr>
            <a:r>
              <a:rPr sz="1275" b="0">
                <a:solidFill>
                  <a:srgbClr val="222831"/>
                </a:solidFill>
                <a:latin typeface="Georgia"/>
                <a:ea typeface="Georgia"/>
                <a:cs typeface="Georgia"/>
              </a:rPr>
              <a:t>“I see the idea that strength training is unattractive, but I do not agree.”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D39419-F53C-4ECD-98C5-D8322018E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66725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F8E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F8E5F"/>
                </a:solidFill>
                <a:latin typeface="Microsoft YaHei"/>
                <a:ea typeface="Microsoft YaHei"/>
                <a:cs typeface="Microsoft YaHei"/>
              </a:rPr>
              <a:t>P3 / limited media internalization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E0862E-7CEF-45DA-A885-EAA9D3341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D8C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C90C93-09FB-4CF0-AD87-4F26507E2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B7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B746C"/>
                </a:solidFill>
                <a:latin typeface="Microsoft YaHei"/>
                <a:ea typeface="Microsoft YaHei"/>
                <a:cs typeface="Microsoft YaHei"/>
              </a:rPr>
              <a:t>Representative interview quotes translated and condensed for presentation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A1499D-F7FD-4175-B729-8AD92BA44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B7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B746C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40936616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C72185D-D58C-46A7-B997-D69BEB0C9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9-marker">
            <a:extLst xmlns:a="http://schemas.openxmlformats.org/drawingml/2006/main">
              <a:ext uri="{FF2B5EF4-FFF2-40B4-BE49-F238E27FC236}">
                <a16:creationId xmlns:a16="http://schemas.microsoft.com/office/drawing/2014/main" id="{C59E8E75-ECDA-47B7-AA41-8371544D7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4B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9-label">
            <a:extLst xmlns:a="http://schemas.openxmlformats.org/drawingml/2006/main">
              <a:ext uri="{FF2B5EF4-FFF2-40B4-BE49-F238E27FC236}">
                <a16:creationId xmlns:a16="http://schemas.microsoft.com/office/drawing/2014/main" id="{C99709F5-0DB5-4AA6-BD38-1A9BBC728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E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5E6673"/>
                </a:solidFill>
                <a:latin typeface="Microsoft YaHei"/>
                <a:ea typeface="Microsoft YaHei"/>
                <a:cs typeface="Microsoft YaHei"/>
              </a:rPr>
              <a:t>RQ3 FINDING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500E02-B0E3-44BC-BE65-2DEAAE4EF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8096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22831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222831"/>
                </a:solidFill>
                <a:latin typeface="Georgia"/>
                <a:ea typeface="Georgia"/>
                <a:cs typeface="Georgia"/>
              </a:rPr>
              <a:t>Avoidance often looks like negotiation, not total withdrawal.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5E0E32-D797-4754-8B52-96125C924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7429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E6673"/>
                </a:solidFill>
                <a:latin typeface="Microsoft YaHei"/>
                <a:ea typeface="Microsoft YaHei"/>
                <a:cs typeface="Microsoft YaHei"/>
              </a:rPr>
              <a:t>女生常通过错峰、同伴、换区域和降低可见性来协商进入。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2A1E50-1A07-4B8B-B8E5-B03BD19AC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247900"/>
            <a:ext cx="39052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CDBB"/>
            </a:solidFill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d7ed0d24b0488c"/>
          <a:stretch xmlns:a="http://schemas.openxmlformats.org/drawingml/2006/main"/>
        </p:blipFill>
        <p:spPr>
          <a:xfrm xmlns:a="http://schemas.openxmlformats.org/drawingml/2006/main">
            <a:off x="6858000" y="2989165"/>
            <a:ext cx="3714750" cy="1565471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2AFB3D-FB51-495A-9088-806ACB89E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276850"/>
            <a:ext cx="371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E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E6673"/>
                </a:solidFill>
                <a:latin typeface="Microsoft YaHei"/>
                <a:ea typeface="Microsoft YaHei"/>
                <a:cs typeface="Microsoft YaHei"/>
              </a:rPr>
              <a:t>Coping strategies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9E0741-23D9-48CF-BEE9-69863E875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09850"/>
            <a:ext cx="2762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8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22831"/>
                </a:solidFill>
                <a:latin typeface="Microsoft YaHei"/>
                <a:ea typeface="Microsoft YaHei"/>
                <a:cs typeface="Microsoft YaHei"/>
              </a:rPr>
              <a:t>Choose less crowded times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324A4E-9589-44B8-A1C4-8A4EB8543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64795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8D9296-8C1A-44D0-AD18-29DFCEFB3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647950"/>
            <a:ext cx="759104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C7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6941EF-2241-4378-8B7D-0DF5C69A4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60985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7C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F7C77"/>
                </a:solidFill>
                <a:latin typeface="Microsoft YaHei"/>
                <a:ea typeface="Microsoft YaHei"/>
                <a:cs typeface="Microsoft YaHei"/>
              </a:rPr>
              <a:t>46.88%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610FC1-08A7-4542-A265-31C22BE24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81350"/>
            <a:ext cx="2762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8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22831"/>
                </a:solidFill>
                <a:latin typeface="Microsoft YaHei"/>
                <a:ea typeface="Microsoft YaHei"/>
                <a:cs typeface="Microsoft YaHei"/>
              </a:rPr>
              <a:t>Stay in cardio/fixed-machine areas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9298A8-4547-4068-9ABC-DAA66BF18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21945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189075-AE5D-4BE6-A6A0-9FFAAF05E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219450"/>
            <a:ext cx="607219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8B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362058-DF1D-4517-AAB0-5E93DE015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18135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08B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08B32"/>
                </a:solidFill>
                <a:latin typeface="Microsoft YaHei"/>
                <a:ea typeface="Microsoft YaHei"/>
                <a:cs typeface="Microsoft YaHei"/>
              </a:rPr>
              <a:t>37.5%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2D85AF-75FF-4786-A37A-F77CA9058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52850"/>
            <a:ext cx="2762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8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22831"/>
                </a:solidFill>
                <a:latin typeface="Microsoft YaHei"/>
                <a:ea typeface="Microsoft YaHei"/>
                <a:cs typeface="Microsoft YaHei"/>
              </a:rPr>
              <a:t>Give up planned strength training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69F61E-3E92-489B-9843-D81C3C124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79095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466576-32F6-48A9-92F3-FA3867BC0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790950"/>
            <a:ext cx="506016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4B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FAA0CA-9D4E-42A8-9662-ED3EB8C6E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75285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44B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B44B3F"/>
                </a:solidFill>
                <a:latin typeface="Microsoft YaHei"/>
                <a:ea typeface="Microsoft YaHei"/>
                <a:cs typeface="Microsoft YaHei"/>
              </a:rPr>
              <a:t>31.25%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55EDEB-211F-4E11-ADFE-792048DF8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24350"/>
            <a:ext cx="2762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8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22831"/>
                </a:solidFill>
                <a:latin typeface="Microsoft YaHei"/>
                <a:ea typeface="Microsoft YaHei"/>
                <a:cs typeface="Microsoft YaHei"/>
              </a:rPr>
              <a:t>Leave the gym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D12D17-F43C-4022-B14D-E02245236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36245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E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EC1FEE-74CF-43D8-AA48-96B3A4710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362450"/>
            <a:ext cx="506016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6A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8A8CA3-396A-4F7A-92F3-EA634D2C2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32435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46A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546A8B"/>
                </a:solidFill>
                <a:latin typeface="Microsoft YaHei"/>
                <a:ea typeface="Microsoft YaHei"/>
                <a:cs typeface="Microsoft YaHei"/>
              </a:rPr>
              <a:t>31.25%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AED0BB8-D131-44B3-B356-EBBE01541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86350"/>
            <a:ext cx="3905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2831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222831"/>
                </a:solidFill>
                <a:latin typeface="Georgia"/>
                <a:ea typeface="Georgia"/>
                <a:cs typeface="Georgia"/>
              </a:rPr>
              <a:t>The strategy is to make entry feel more controllable.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D16D1DE-0C7F-42D0-A4CC-F996224AA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D8C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28AC4AD-3F85-483D-BC85-39C8862C1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B7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B746C"/>
                </a:solidFill>
                <a:latin typeface="Microsoft YaHei"/>
                <a:ea typeface="Microsoft YaHei"/>
                <a:cs typeface="Microsoft YaHei"/>
              </a:rPr>
              <a:t>Survey coping strategy table + interviews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D4403CA-F598-4C7A-B291-C225E5593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B7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B746C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081700155"/>
      </p:ext>
    </p:extLst>
  </p:cSld>
</p:sld>
</file>

<file path=ppt/slides/slide10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/>
      </p:grpSpPr>
      <p:sp>
        <p:nvSpPr>
          <p:cNvPr id="1" name="">
            <a:extLst>
              <a:ext uri="{FF2B5EF4-FFF2-40B4-BE49-F238E27FC236}">
                <ns2:creationId id="{9224B669-0FD3-4ACE-8F0D-92A9A2E3109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2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0-marker">
            <a:extLst>
              <a:ext uri="{FF2B5EF4-FFF2-40B4-BE49-F238E27FC236}">
                <ns2:creationId id="{52921D14-AB7D-4FE8-B214-6A59CB8598EA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95250" cy="95250"/>
          </a:xfrm>
          <a:prstGeom prst="rect">
            <a:avLst/>
          </a:prstGeom>
          <a:solidFill>
            <a:srgbClr val="B44B3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0-label">
            <a:extLst>
              <a:ext uri="{FF2B5EF4-FFF2-40B4-BE49-F238E27FC236}">
                <ns2:creationId id="{BCCFC12C-B2D3-474E-9A17-A4ED6A02EE50}"/>
              </a:ext>
            </a:extLst>
          </p:cNvPr>
          <p:cNvSpPr>
            <a:spLocks noGrp="1"/>
          </p:cNvSpPr>
          <p:nvPr/>
        </p:nvSpPr>
        <p:spPr>
          <a:xfrm>
            <a:off x="800100" y="371475"/>
            <a:ext cx="3429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5E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5E6673"/>
                </a:solidFill>
                <a:latin typeface="Microsoft YaHei"/>
                <a:ea typeface="Microsoft YaHei"/>
                <a:cs typeface="Microsoft YaHei"/>
              </a:rPr>
              <a:t>IMPLICATIONS</a:t>
            </a:r>
          </a:p>
        </p:txBody>
      </p:sp>
      <p:sp>
        <p:nvSpPr>
          <p:cNvPr id="4" name="">
            <a:extLst>
              <a:ext uri="{FF2B5EF4-FFF2-40B4-BE49-F238E27FC236}">
                <ns2:creationId id="{72428B78-4857-4DC6-A2BB-B1093CB8882E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809625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222831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222831"/>
                </a:solidFill>
                <a:latin typeface="Georgia"/>
                <a:ea typeface="Georgia"/>
                <a:cs typeface="Georgia"/>
              </a:rPr>
              <a:t>The intervention target is entry cost, not individual courage.</a:t>
            </a:r>
          </a:p>
        </p:txBody>
      </p:sp>
      <p:sp>
        <p:nvSpPr>
          <p:cNvPr id="5" name="">
            <a:extLst>
              <a:ext uri="{FF2B5EF4-FFF2-40B4-BE49-F238E27FC236}">
                <ns2:creationId id="{CF8A6543-A644-4DC9-B1B2-13C03761C753}"/>
              </a:ext>
            </a:extLst>
          </p:cNvPr>
          <p:cNvSpPr>
            <a:spLocks noGrp="1"/>
          </p:cNvSpPr>
          <p:nvPr/>
        </p:nvSpPr>
        <p:spPr>
          <a:xfrm>
            <a:off x="609600" y="1676400"/>
            <a:ext cx="7429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E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E6673"/>
                </a:solidFill>
                <a:latin typeface="Microsoft YaHei"/>
                <a:ea typeface="Microsoft YaHei"/>
                <a:cs typeface="Microsoft YaHei"/>
              </a:rPr>
              <a:t>实践重点不是要求女生更勇敢，而是让新手更容易开始。</a:t>
            </a:r>
          </a:p>
        </p:txBody>
      </p:sp>
      <p:sp>
        <p:nvSpPr>
          <p:cNvPr id="6" name="">
            <a:extLst>
              <a:ext uri="{FF2B5EF4-FFF2-40B4-BE49-F238E27FC236}">
                <ns2:creationId id="{59F791F7-F587-4204-B4D5-C35E2C12F7CC}"/>
              </a:ext>
            </a:extLst>
          </p:cNvPr>
          <p:cNvSpPr>
            <a:spLocks noGrp="1"/>
          </p:cNvSpPr>
          <p:nvPr/>
        </p:nvSpPr>
        <p:spPr>
          <a:xfrm>
            <a:off x="6096000" y="2266950"/>
            <a:ext cx="4476750" cy="3048000"/>
          </a:xfrm>
          <a:prstGeom prst="rect">
            <a:avLst/>
          </a:prstGeom>
          <a:solidFill>
            <a:srgbClr val="FFFDF8"/>
          </a:solidFill>
          <a:ln w="9525">
            <a:solidFill>
              <a:srgbClr val="D9CDBB"/>
            </a:solidFill>
            <a:prstDash val="solid"/>
          </a:ln>
        </p:spPr>
      </p:sp>
      <p:pic>
        <p:nvPicPr>
          <p:cNvPr id="7" name=""/>
          <p:cNvPicPr>
            <a:picLocks noChangeAspect="1"/>
          </p:cNvPicPr>
          <p:nvPr/>
        </p:nvPicPr>
        <p:blipFill>
          <a:blip r:embed="R783f312e3efe4136"/>
          <a:stretch/>
        </p:blipFill>
        <p:spPr>
          <a:xfrm>
            <a:off x="6191250" y="3101812"/>
            <a:ext cx="4286250" cy="1378276"/>
          </a:xfrm>
          <a:prstGeom prst="rect">
            <a:avLst/>
          </a:prstGeom>
        </p:spPr>
      </p:pic>
      <p:sp>
        <p:nvSpPr>
          <p:cNvPr id="8" name="">
            <a:extLst>
              <a:ext uri="{FF2B5EF4-FFF2-40B4-BE49-F238E27FC236}">
                <ns2:creationId id="{0244EA49-ED14-4906-A4CA-D909815D1DFE}"/>
              </a:ext>
            </a:extLst>
          </p:cNvPr>
          <p:cNvSpPr>
            <a:spLocks noGrp="1"/>
          </p:cNvSpPr>
          <p:nvPr/>
        </p:nvSpPr>
        <p:spPr>
          <a:xfrm>
            <a:off x="6191250" y="5295900"/>
            <a:ext cx="4286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0">
                <a:solidFill>
                  <a:srgbClr val="5E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E6673"/>
                </a:solidFill>
                <a:latin typeface="Microsoft YaHei"/>
                <a:ea typeface="Microsoft YaHei"/>
                <a:cs typeface="Microsoft YaHei"/>
              </a:rPr>
              <a:t>Intervention preference (M=3.98)</a:t>
            </a:r>
          </a:p>
        </p:txBody>
      </p:sp>
      <p:sp>
        <p:nvSpPr>
          <p:cNvPr id="9" name="">
            <a:extLst>
              <a:ext uri="{FF2B5EF4-FFF2-40B4-BE49-F238E27FC236}">
                <ns2:creationId id="{0489E6FA-C5C7-476A-B129-809D2BAB3B31}"/>
              </a:ext>
            </a:extLst>
          </p:cNvPr>
          <p:cNvSpPr>
            <a:spLocks noGrp="1"/>
          </p:cNvSpPr>
          <p:nvPr/>
        </p:nvSpPr>
        <p:spPr>
          <a:xfrm>
            <a:off x="838200" y="2457450"/>
            <a:ext cx="314325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B44B3F"/>
                </a:solidFill>
                <a:latin typeface="Georgia"/>
                <a:ea typeface="Georgia"/>
                <a:cs typeface="Georgia"/>
              </a:defRPr>
            </a:pPr>
            <a:r>
              <a:rPr sz="2700" b="1">
                <a:solidFill>
                  <a:srgbClr val="B44B3F"/>
                </a:solidFill>
                <a:latin typeface="Georgia"/>
                <a:ea typeface="Georgia"/>
                <a:cs typeface="Georgia"/>
              </a:rPr>
              <a:t>96.88%</a:t>
            </a:r>
          </a:p>
        </p:txBody>
      </p:sp>
      <p:sp>
        <p:nvSpPr>
          <p:cNvPr id="10" name="">
            <a:extLst>
              <a:ext uri="{FF2B5EF4-FFF2-40B4-BE49-F238E27FC236}">
                <ns2:creationId id="{97F68492-1C11-49E0-811F-6B2B41868A0A}"/>
              </a:ext>
            </a:extLst>
          </p:cNvPr>
          <p:cNvSpPr>
            <a:spLocks noGrp="1"/>
          </p:cNvSpPr>
          <p:nvPr/>
        </p:nvSpPr>
        <p:spPr>
          <a:xfrm>
            <a:off x="838200" y="3009900"/>
            <a:ext cx="31432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E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E6673"/>
                </a:solidFill>
                <a:latin typeface="Microsoft YaHei"/>
                <a:ea typeface="Microsoft YaHei"/>
                <a:cs typeface="Microsoft YaHei"/>
              </a:rPr>
              <a:t>support women's beginner strength workshops</a:t>
            </a:r>
          </a:p>
        </p:txBody>
      </p:sp>
      <p:sp>
        <p:nvSpPr>
          <p:cNvPr id="11" name="">
            <a:extLst>
              <a:ext uri="{FF2B5EF4-FFF2-40B4-BE49-F238E27FC236}">
                <ns2:creationId id="{10A8E0CD-1E9E-4691-B85B-06E01322AD36}"/>
              </a:ext>
            </a:extLst>
          </p:cNvPr>
          <p:cNvSpPr>
            <a:spLocks noGrp="1"/>
          </p:cNvSpPr>
          <p:nvPr/>
        </p:nvSpPr>
        <p:spPr>
          <a:xfrm>
            <a:off x="838200" y="3733800"/>
            <a:ext cx="314325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2F7C77"/>
                </a:solidFill>
                <a:latin typeface="Georgia"/>
                <a:ea typeface="Georgia"/>
                <a:cs typeface="Georgia"/>
              </a:defRPr>
            </a:pPr>
            <a:r>
              <a:rPr sz="2700" b="1">
                <a:solidFill>
                  <a:srgbClr val="2F7C77"/>
                </a:solidFill>
                <a:latin typeface="Georgia"/>
                <a:ea typeface="Georgia"/>
                <a:cs typeface="Georgia"/>
              </a:rPr>
              <a:t>81.25%</a:t>
            </a:r>
          </a:p>
        </p:txBody>
      </p:sp>
      <p:sp>
        <p:nvSpPr>
          <p:cNvPr id="12" name="">
            <a:extLst>
              <a:ext uri="{FF2B5EF4-FFF2-40B4-BE49-F238E27FC236}">
                <ns2:creationId id="{E18E6F96-269D-4549-B911-9D6206C96FD4}"/>
              </a:ext>
            </a:extLst>
          </p:cNvPr>
          <p:cNvSpPr>
            <a:spLocks noGrp="1"/>
          </p:cNvSpPr>
          <p:nvPr/>
        </p:nvSpPr>
        <p:spPr>
          <a:xfrm>
            <a:off x="838200" y="4286250"/>
            <a:ext cx="31432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E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E6673"/>
                </a:solidFill>
                <a:latin typeface="Microsoft YaHei"/>
                <a:ea typeface="Microsoft YaHei"/>
                <a:cs typeface="Microsoft YaHei"/>
              </a:rPr>
              <a:t>support semi-private zones or visual screening</a:t>
            </a:r>
          </a:p>
        </p:txBody>
      </p:sp>
      <p:sp>
        <p:nvSpPr>
          <p:cNvPr id="13" name="">
            <a:extLst>
              <a:ext uri="{FF2B5EF4-FFF2-40B4-BE49-F238E27FC236}">
                <ns2:creationId id="{A162C7BD-FEE5-4AEE-93DA-E6CCB26A0621}"/>
              </a:ext>
            </a:extLst>
          </p:cNvPr>
          <p:cNvSpPr>
            <a:spLocks noGrp="1"/>
          </p:cNvSpPr>
          <p:nvPr/>
        </p:nvSpPr>
        <p:spPr>
          <a:xfrm>
            <a:off x="838200" y="5010150"/>
            <a:ext cx="314325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C08B32"/>
                </a:solidFill>
                <a:latin typeface="Georgia"/>
                <a:ea typeface="Georgia"/>
                <a:cs typeface="Georgia"/>
              </a:defRPr>
            </a:pPr>
            <a:r>
              <a:rPr sz="2700" b="1">
                <a:solidFill>
                  <a:srgbClr val="C08B32"/>
                </a:solidFill>
                <a:latin typeface="Georgia"/>
                <a:ea typeface="Georgia"/>
                <a:cs typeface="Georgia"/>
              </a:rPr>
              <a:t>50.00%</a:t>
            </a:r>
          </a:p>
        </p:txBody>
      </p:sp>
      <p:sp>
        <p:nvSpPr>
          <p:cNvPr id="14" name="">
            <a:extLst>
              <a:ext uri="{FF2B5EF4-FFF2-40B4-BE49-F238E27FC236}">
                <ns2:creationId id="{8AA3C439-4E7D-43D5-A58B-F5B05C64B339}"/>
              </a:ext>
            </a:extLst>
          </p:cNvPr>
          <p:cNvSpPr>
            <a:spLocks noGrp="1"/>
          </p:cNvSpPr>
          <p:nvPr/>
        </p:nvSpPr>
        <p:spPr>
          <a:xfrm>
            <a:off x="838200" y="5562600"/>
            <a:ext cx="31432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E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E6673"/>
                </a:solidFill>
                <a:latin typeface="Microsoft YaHei"/>
                <a:ea typeface="Microsoft YaHei"/>
                <a:cs typeface="Microsoft YaHei"/>
              </a:rPr>
              <a:t>support reducing stereotypes around women's strength training</a:t>
            </a:r>
          </a:p>
        </p:txBody>
      </p:sp>
      <p:sp>
        <p:nvSpPr>
          <p:cNvPr id="15" name="">
            <a:extLst>
              <a:ext uri="{FF2B5EF4-FFF2-40B4-BE49-F238E27FC236}">
                <ns2:creationId id="{FF9A2604-5DEB-4CF1-A15B-DB31D56A1968}"/>
              </a:ext>
            </a:extLst>
          </p:cNvPr>
          <p:cNvSpPr>
            <a:spLocks noGrp="1"/>
          </p:cNvSpPr>
          <p:nvPr/>
        </p:nvSpPr>
        <p:spPr>
          <a:xfrm>
            <a:off x="609600" y="6334125"/>
            <a:ext cx="9810750" cy="9525"/>
          </a:xfrm>
          <a:prstGeom prst="rect">
            <a:avLst/>
          </a:prstGeom>
          <a:solidFill>
            <a:srgbClr val="E2D8C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>
              <a:ext uri="{FF2B5EF4-FFF2-40B4-BE49-F238E27FC236}">
                <ns2:creationId id="{C4E97389-5DDA-4B33-9F41-9EF84C8215D7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723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7B7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B746C"/>
                </a:solidFill>
                <a:latin typeface="Microsoft YaHei"/>
                <a:ea typeface="Microsoft YaHei"/>
                <a:cs typeface="Microsoft YaHei"/>
              </a:rPr>
              <a:t>Q25-Q27; pressure-preference rho=.67, p&lt;.001</a:t>
            </a:r>
          </a:p>
        </p:txBody>
      </p:sp>
      <p:sp>
        <p:nvSpPr>
          <p:cNvPr id="17" name="">
            <a:extLst>
              <a:ext uri="{FF2B5EF4-FFF2-40B4-BE49-F238E27FC236}">
                <ns2:creationId id="{83D88DFB-4754-4593-8118-CCF1A2384CB6}"/>
              </a:ext>
            </a:extLst>
          </p:cNvPr>
          <p:cNvSpPr>
            <a:spLocks noGrp="1"/>
          </p:cNvSpPr>
          <p:nvPr/>
        </p:nvSpPr>
        <p:spPr>
          <a:xfrm>
            <a:off x="10953750" y="6419850"/>
            <a:ext cx="628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7B7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B746C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ns4:creationId val="2044545242"/>
      </p:ext>
    </p:extLst>
  </p:cSld>
</p:sld>
</file>

<file path=ppt/slides/slide1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1" name="">
            <a:extLst>
              <a:ext uri="{FF2B5EF4-FFF2-40B4-BE49-F238E27FC236}">
                <ns2:creationId id="{75DF2605-697F-4E54-A0F7-3B52DF07B4E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2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1-marker">
            <a:extLst>
              <a:ext uri="{FF2B5EF4-FFF2-40B4-BE49-F238E27FC236}">
                <ns2:creationId id="{864C8C5C-FFE3-48F4-80DA-4CF9B09835FA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95250" cy="95250"/>
          </a:xfrm>
          <a:prstGeom prst="rect">
            <a:avLst/>
          </a:prstGeom>
          <a:solidFill>
            <a:srgbClr val="B44B3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1-label">
            <a:extLst>
              <a:ext uri="{FF2B5EF4-FFF2-40B4-BE49-F238E27FC236}">
                <ns2:creationId id="{39C9CAAF-1D40-4205-85D6-9F2C4F58393B}"/>
              </a:ext>
            </a:extLst>
          </p:cNvPr>
          <p:cNvSpPr>
            <a:spLocks noGrp="1"/>
          </p:cNvSpPr>
          <p:nvPr/>
        </p:nvSpPr>
        <p:spPr>
          <a:xfrm>
            <a:off x="800100" y="371475"/>
            <a:ext cx="3429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5E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5E6673"/>
                </a:solidFill>
                <a:latin typeface="Microsoft YaHei"/>
                <a:ea typeface="Microsoft YaHei"/>
                <a:cs typeface="Microsoft YaHei"/>
              </a:rPr>
              <a:t>LIMITATIONS</a:t>
            </a:r>
          </a:p>
        </p:txBody>
      </p:sp>
      <p:sp>
        <p:nvSpPr>
          <p:cNvPr id="4" name="">
            <a:extLst>
              <a:ext uri="{FF2B5EF4-FFF2-40B4-BE49-F238E27FC236}">
                <ns2:creationId id="{A3C1B451-60B3-4F23-960A-EB3E2292FACA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809625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222831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222831"/>
                </a:solidFill>
                <a:latin typeface="Georgia"/>
                <a:ea typeface="Georgia"/>
                <a:cs typeface="Georgia"/>
              </a:rPr>
              <a:t>The evidence is exploratory, even with participant-level analysis.</a:t>
            </a:r>
          </a:p>
        </p:txBody>
      </p:sp>
      <p:sp>
        <p:nvSpPr>
          <p:cNvPr id="5" name="">
            <a:extLst>
              <a:ext uri="{FF2B5EF4-FFF2-40B4-BE49-F238E27FC236}">
                <ns2:creationId id="{EFDAB141-A9B2-42A5-AE1B-8EA2B7F833A4}"/>
              </a:ext>
            </a:extLst>
          </p:cNvPr>
          <p:cNvSpPr>
            <a:spLocks noGrp="1"/>
          </p:cNvSpPr>
          <p:nvPr/>
        </p:nvSpPr>
        <p:spPr>
          <a:xfrm>
            <a:off x="609600" y="1676400"/>
            <a:ext cx="7429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E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E6673"/>
                </a:solidFill>
                <a:latin typeface="Microsoft YaHei"/>
                <a:ea typeface="Microsoft YaHei"/>
                <a:cs typeface="Microsoft YaHei"/>
              </a:rPr>
              <a:t>研究结论需要谨慎表达，不能外推为所有亚洲女大学生。</a:t>
            </a:r>
          </a:p>
        </p:txBody>
      </p:sp>
      <p:sp>
        <p:nvSpPr>
          <p:cNvPr id="6" name="">
            <a:extLst>
              <a:ext uri="{FF2B5EF4-FFF2-40B4-BE49-F238E27FC236}">
                <ns2:creationId id="{05024DC3-728D-477D-A4E3-57AEEC824D6D}"/>
              </a:ext>
            </a:extLst>
          </p:cNvPr>
          <p:cNvSpPr>
            <a:spLocks noGrp="1"/>
          </p:cNvSpPr>
          <p:nvPr/>
        </p:nvSpPr>
        <p:spPr>
          <a:xfrm>
            <a:off x="876300" y="2476500"/>
            <a:ext cx="85725" cy="85725"/>
          </a:xfrm>
          <a:prstGeom prst="rect">
            <a:avLst/>
          </a:prstGeom>
          <a:solidFill>
            <a:srgbClr val="B44B3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>
              <a:ext uri="{FF2B5EF4-FFF2-40B4-BE49-F238E27FC236}">
                <ns2:creationId id="{CF063112-C005-464B-8BA1-1A6D0F6F5FFB}"/>
              </a:ext>
            </a:extLst>
          </p:cNvPr>
          <p:cNvSpPr>
            <a:spLocks noGrp="1"/>
          </p:cNvSpPr>
          <p:nvPr/>
        </p:nvSpPr>
        <p:spPr>
          <a:xfrm>
            <a:off x="1085850" y="2419350"/>
            <a:ext cx="3810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2228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22831"/>
                </a:solidFill>
                <a:latin typeface="Microsoft YaHei"/>
                <a:ea typeface="Microsoft YaHei"/>
                <a:cs typeface="Microsoft YaHei"/>
              </a:rPr>
              <a:t>Small N</a:t>
            </a:r>
          </a:p>
        </p:txBody>
      </p:sp>
      <p:sp>
        <p:nvSpPr>
          <p:cNvPr id="8" name="">
            <a:extLst>
              <a:ext uri="{FF2B5EF4-FFF2-40B4-BE49-F238E27FC236}">
                <ns2:creationId id="{A8FED67F-0CB4-4A16-9712-87B9E5A46784}"/>
              </a:ext>
            </a:extLst>
          </p:cNvPr>
          <p:cNvSpPr>
            <a:spLocks noGrp="1"/>
          </p:cNvSpPr>
          <p:nvPr/>
        </p:nvSpPr>
        <p:spPr>
          <a:xfrm>
            <a:off x="1085850" y="2695575"/>
            <a:ext cx="4333875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E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E6673"/>
                </a:solidFill>
                <a:latin typeface="Microsoft YaHei"/>
                <a:ea typeface="Microsoft YaHei"/>
                <a:cs typeface="Microsoft YaHei"/>
              </a:rPr>
              <a:t>N=32 survey respondents and 3 interviewees; limited campus context.</a:t>
            </a:r>
          </a:p>
        </p:txBody>
      </p:sp>
      <p:sp>
        <p:nvSpPr>
          <p:cNvPr id="9" name="">
            <a:extLst>
              <a:ext uri="{FF2B5EF4-FFF2-40B4-BE49-F238E27FC236}">
                <ns2:creationId id="{87EEAF24-C717-4B07-80CA-0A99B29F0A89}"/>
              </a:ext>
            </a:extLst>
          </p:cNvPr>
          <p:cNvSpPr>
            <a:spLocks noGrp="1"/>
          </p:cNvSpPr>
          <p:nvPr/>
        </p:nvSpPr>
        <p:spPr>
          <a:xfrm>
            <a:off x="876300" y="3581400"/>
            <a:ext cx="85725" cy="85725"/>
          </a:xfrm>
          <a:prstGeom prst="rect">
            <a:avLst/>
          </a:prstGeom>
          <a:solidFill>
            <a:srgbClr val="C08B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>
              <a:ext uri="{FF2B5EF4-FFF2-40B4-BE49-F238E27FC236}">
                <ns2:creationId id="{7B9D1102-E618-4F4E-B548-FC69BDFB850D}"/>
              </a:ext>
            </a:extLst>
          </p:cNvPr>
          <p:cNvSpPr>
            <a:spLocks noGrp="1"/>
          </p:cNvSpPr>
          <p:nvPr/>
        </p:nvSpPr>
        <p:spPr>
          <a:xfrm>
            <a:off x="1085850" y="3524250"/>
            <a:ext cx="3810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2228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22831"/>
                </a:solidFill>
                <a:latin typeface="Microsoft YaHei"/>
                <a:ea typeface="Microsoft YaHei"/>
                <a:cs typeface="Microsoft YaHei"/>
              </a:rPr>
              <a:t>Unbalanced groups</a:t>
            </a:r>
          </a:p>
        </p:txBody>
      </p:sp>
      <p:sp>
        <p:nvSpPr>
          <p:cNvPr id="11" name="">
            <a:extLst>
              <a:ext uri="{FF2B5EF4-FFF2-40B4-BE49-F238E27FC236}">
                <ns2:creationId id="{C3A88BFA-5DC3-4B2F-A35E-8652599AF849}"/>
              </a:ext>
            </a:extLst>
          </p:cNvPr>
          <p:cNvSpPr>
            <a:spLocks noGrp="1"/>
          </p:cNvSpPr>
          <p:nvPr/>
        </p:nvSpPr>
        <p:spPr>
          <a:xfrm>
            <a:off x="1085850" y="3800475"/>
            <a:ext cx="4333875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E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E6673"/>
                </a:solidFill>
                <a:latin typeface="Microsoft YaHei"/>
                <a:ea typeface="Microsoft YaHei"/>
                <a:cs typeface="Microsoft YaHei"/>
              </a:rPr>
              <a:t>Only 5 frequent free-weight users; group tests are exploratory.</a:t>
            </a:r>
          </a:p>
        </p:txBody>
      </p:sp>
      <p:sp>
        <p:nvSpPr>
          <p:cNvPr id="12" name="">
            <a:extLst>
              <a:ext uri="{FF2B5EF4-FFF2-40B4-BE49-F238E27FC236}">
                <ns2:creationId id="{4F8CC4CA-B30A-4164-A846-DEC2B9B6203C}"/>
              </a:ext>
            </a:extLst>
          </p:cNvPr>
          <p:cNvSpPr>
            <a:spLocks noGrp="1"/>
          </p:cNvSpPr>
          <p:nvPr/>
        </p:nvSpPr>
        <p:spPr>
          <a:xfrm>
            <a:off x="876300" y="4686300"/>
            <a:ext cx="85725" cy="85725"/>
          </a:xfrm>
          <a:prstGeom prst="rect">
            <a:avLst/>
          </a:prstGeom>
          <a:solidFill>
            <a:srgbClr val="2F7C7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>
              <a:ext uri="{FF2B5EF4-FFF2-40B4-BE49-F238E27FC236}">
                <ns2:creationId id="{28D9EE75-69B8-4FD4-8EDB-C5A374ED0873}"/>
              </a:ext>
            </a:extLst>
          </p:cNvPr>
          <p:cNvSpPr>
            <a:spLocks noGrp="1"/>
          </p:cNvSpPr>
          <p:nvPr/>
        </p:nvSpPr>
        <p:spPr>
          <a:xfrm>
            <a:off x="1085850" y="4629150"/>
            <a:ext cx="3810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2228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22831"/>
                </a:solidFill>
                <a:latin typeface="Microsoft YaHei"/>
                <a:ea typeface="Microsoft YaHei"/>
                <a:cs typeface="Microsoft YaHei"/>
              </a:rPr>
              <a:t>Measurement limits</a:t>
            </a:r>
          </a:p>
        </p:txBody>
      </p:sp>
      <p:sp>
        <p:nvSpPr>
          <p:cNvPr id="14" name="">
            <a:extLst>
              <a:ext uri="{FF2B5EF4-FFF2-40B4-BE49-F238E27FC236}">
                <ns2:creationId id="{B19EB96E-18E7-4605-B78A-A0BC90CC0AD7}"/>
              </a:ext>
            </a:extLst>
          </p:cNvPr>
          <p:cNvSpPr>
            <a:spLocks noGrp="1"/>
          </p:cNvSpPr>
          <p:nvPr/>
        </p:nvSpPr>
        <p:spPr>
          <a:xfrm>
            <a:off x="1085850" y="4905375"/>
            <a:ext cx="4333875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E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E6673"/>
                </a:solidFill>
                <a:latin typeface="Microsoft YaHei"/>
                <a:ea typeface="Microsoft YaHei"/>
                <a:cs typeface="Microsoft YaHei"/>
              </a:rPr>
              <a:t>Contextualized short items, not full validated scales.</a:t>
            </a:r>
          </a:p>
        </p:txBody>
      </p:sp>
      <p:sp>
        <p:nvSpPr>
          <p:cNvPr id="15" name="">
            <a:extLst>
              <a:ext uri="{FF2B5EF4-FFF2-40B4-BE49-F238E27FC236}">
                <ns2:creationId id="{82EA24E0-E88E-486A-BBCE-050384110E43}"/>
              </a:ext>
            </a:extLst>
          </p:cNvPr>
          <p:cNvSpPr>
            <a:spLocks noGrp="1"/>
          </p:cNvSpPr>
          <p:nvPr/>
        </p:nvSpPr>
        <p:spPr>
          <a:xfrm>
            <a:off x="6858000" y="2457450"/>
            <a:ext cx="3048000" cy="2381250"/>
          </a:xfrm>
          <a:prstGeom prst="rect">
            <a:avLst/>
          </a:prstGeom>
          <a:solidFill>
            <a:srgbClr val="18202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>
              <a:ext uri="{FF2B5EF4-FFF2-40B4-BE49-F238E27FC236}">
                <ns2:creationId id="{A3E0475B-0A82-402B-9BCB-A4CB475B2A20}"/>
              </a:ext>
            </a:extLst>
          </p:cNvPr>
          <p:cNvSpPr>
            <a:spLocks noGrp="1"/>
          </p:cNvSpPr>
          <p:nvPr/>
        </p:nvSpPr>
        <p:spPr>
          <a:xfrm>
            <a:off x="7181850" y="2914650"/>
            <a:ext cx="2381250" cy="1333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7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875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What we can claim:</a:t>
            </a:r>
          </a:p>
          <a:p>
            <a:pPr algn="ctr">
              <a:defRPr sz="187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875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associations and patterns in this sample, not causality.</a:t>
            </a:r>
          </a:p>
        </p:txBody>
      </p:sp>
      <p:sp>
        <p:nvSpPr>
          <p:cNvPr id="17" name="">
            <a:extLst>
              <a:ext uri="{FF2B5EF4-FFF2-40B4-BE49-F238E27FC236}">
                <ns2:creationId id="{53EF21F7-6070-4132-A5BE-2B1C1100A2CD}"/>
              </a:ext>
            </a:extLst>
          </p:cNvPr>
          <p:cNvSpPr>
            <a:spLocks noGrp="1"/>
          </p:cNvSpPr>
          <p:nvPr/>
        </p:nvSpPr>
        <p:spPr>
          <a:xfrm>
            <a:off x="609600" y="6334125"/>
            <a:ext cx="9810750" cy="9525"/>
          </a:xfrm>
          <a:prstGeom prst="rect">
            <a:avLst/>
          </a:prstGeom>
          <a:solidFill>
            <a:srgbClr val="E2D8C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>
              <a:ext uri="{FF2B5EF4-FFF2-40B4-BE49-F238E27FC236}">
                <ns2:creationId id="{0D59C640-DFF6-4134-BA62-9F0F34ADAAB7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723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7B7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B746C"/>
                </a:solidFill>
                <a:latin typeface="Microsoft YaHei"/>
                <a:ea typeface="Microsoft YaHei"/>
                <a:cs typeface="Microsoft YaHei"/>
              </a:rPr>
              <a:t>Methodology and discussion limitations</a:t>
            </a:r>
          </a:p>
        </p:txBody>
      </p:sp>
      <p:sp>
        <p:nvSpPr>
          <p:cNvPr id="19" name="">
            <a:extLst>
              <a:ext uri="{FF2B5EF4-FFF2-40B4-BE49-F238E27FC236}">
                <ns2:creationId id="{CC2B2E28-AB6A-492A-854C-A3BEAB029549}"/>
              </a:ext>
            </a:extLst>
          </p:cNvPr>
          <p:cNvSpPr>
            <a:spLocks noGrp="1"/>
          </p:cNvSpPr>
          <p:nvPr/>
        </p:nvSpPr>
        <p:spPr>
          <a:xfrm>
            <a:off x="10953750" y="6419850"/>
            <a:ext cx="628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7B7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B746C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ns3:creationId val="905499672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B03A92D-8AFD-49B2-95E6-037A8732C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C93977-A396-47A2-8184-3FA984E48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266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FC6B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FC6B7"/>
                </a:solidFill>
                <a:latin typeface="Microsoft YaHei"/>
                <a:ea typeface="Microsoft YaHei"/>
                <a:cs typeface="Microsoft YaHei"/>
              </a:rPr>
              <a:t>CONCLUSION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A37B29-A0DC-4FB9-AC99-34EC4C6AE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876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3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The core barrier is beginner access in a gendered space.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459F3C-424D-42C4-A405-B2D372BAF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67000"/>
            <a:ext cx="7810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E6D9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6D9C6"/>
                </a:solidFill>
                <a:latin typeface="Microsoft YaHei"/>
                <a:ea typeface="Microsoft YaHei"/>
                <a:cs typeface="Microsoft YaHei"/>
              </a:rPr>
              <a:t>核心结论：阻力训练回避更主要表现为空间和新手门槛问题，而不是单一审美内化问题。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C3775F-EBD2-4310-9095-BAD4F9D17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10050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4B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AA5235-B90C-46D6-B1E8-578D217E6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43400"/>
            <a:ext cx="66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325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71A97D-CE73-482C-9164-64342D6C4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22910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dare to enter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80466E-8221-4E69-97B5-4B89D6571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59105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6D9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E6D9C6"/>
                </a:solidFill>
                <a:latin typeface="Microsoft YaHei"/>
                <a:ea typeface="Microsoft YaHei"/>
                <a:cs typeface="Microsoft YaHei"/>
              </a:rPr>
              <a:t>敢进入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185242-7DC4-4140-ACCB-F06FEA215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210050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C7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751C8A-A7E8-4A3A-B8F6-2D574795B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343400"/>
            <a:ext cx="66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325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D6D3FC-38EE-4A1F-A1DF-9A36B5410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22910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know how to use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183631-72EF-47BE-B103-16F3EF30A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59105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6D9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E6D9C6"/>
                </a:solidFill>
                <a:latin typeface="Microsoft YaHei"/>
                <a:ea typeface="Microsoft YaHei"/>
                <a:cs typeface="Microsoft YaHei"/>
              </a:rPr>
              <a:t>会使用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84564B-8DA9-44C8-8FBD-6EFF2DCF7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210050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8B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1F5BB8-8F72-404D-99D0-54B6D7F5E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343400"/>
            <a:ext cx="66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325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52E393-B541-4B27-A737-5D770ECBC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22910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keep training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E0FE0D-D753-4F33-BC40-2F392B32A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59105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6D9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E6D9C6"/>
                </a:solidFill>
                <a:latin typeface="Microsoft YaHei"/>
                <a:ea typeface="Microsoft YaHei"/>
                <a:cs typeface="Microsoft YaHei"/>
              </a:rPr>
              <a:t>能持续练习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4436CB-8983-428D-A548-0CC25753C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566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0A43AB-9E88-40E5-B9F1-B72F82839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552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Thank you.</a:t>
            </a:r>
          </a:p>
        </p:txBody>
      </p:sp>
    </p:spTree>
    <p:extLst>
      <p:ext uri="{BB962C8B-B14F-4D97-AF65-F5344CB8AC3E}">
        <p14:creationId xmlns:p14="http://schemas.microsoft.com/office/powerpoint/2010/main" val="161028842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2026-05-01T12:28:03.9060000Z</dcterms:created>
  <dcterms:modified xsi:type="dcterms:W3CDTF">2026-05-01T12:28:03.9070000Z</dcterms:modified>
</coreProperties>
</file>